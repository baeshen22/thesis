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5b43b93-fdfb-9088-f092-6c7295cbea86}">
          <p14:sldIdLst>
            <p14:sldId id="256"/>
            <p14:sldId id="257"/>
          </p14:sldIdLst>
        </p14:section>
        <p14:section name="The District" id="{d8198bc3-03a7-0acb-9855-e8551ab3df84}">
          <p14:sldIdLst>
            <p14:sldId id="258"/>
            <p14:sldId id="259"/>
          </p14:sldIdLst>
        </p14:section>
        <p14:section name="Destinations" id="{1d170590-12d5-03f2-4fae-658bd6877c5b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How It Works" id="{15ccd3ec-ca39-73e5-1e00-3c6eacaba28a}">
          <p14:sldIdLst>
            <p14:sldId id="270"/>
            <p14:sldId id="271"/>
          </p14:sldIdLst>
        </p14:section>
        <p14:section name="Conclusion" id="{5c0ad9fb-52cb-d77d-3751-aa46f0f82684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Open with the whole district in one image before any detail.
TALKING POINTS:
- JMD is proposed as a destination built around automotive culture, not a conventional dealership strip.
- This image shows the full concept layout as drawn in the latest plan (FINAL 8-10-2026): curved showroom frontage, lifestyle boulevard, arena and launch plaza, Collectors' Club, off-road experience, service village.
- Everything shown is at concept stage and for discussion.
SOURCE: Layout = FINAL_8-10-2026.dwg. Render = new illustrative visualisation (heights, materials, landscape and surrounding context are illustrative).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State the central idea in one sentence, then the three things the district does.
TALKING POINTS:
- Commercial core: showrooms, lifestyle retail, service village.
- Public experience: off-road, simulators, heritage museum; people can visit without purchasing.
- Events: arena, launch plaza, club — a reason to return.
SOURCE: Programme from JMD Concept 1 (pp.2–23) and the narration. Image = new illustrative dusk view of the DWG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the complete district and how it is organised before discussing individual buildings.
TALKING POINTS:
- Commercial frontage (1–2): showrooms face the main road; the lifestyle boulevard faces the showrooms.
- Visitor and event core (3–7): arena and launch plaza at the southern tip, Collectors' Club at the hinge, off-road and test-drive in the centre.
- Operations (8–12): service village, dealer storage and vehicle preparation sit at the back, away from the public frontage.
FACTS (measured from FINAL_8-10-2026.dwg, indicative): 52 showroom units (23 standard, 21 premium, 7 flagship, 1 flagship-plus); 29 shop units; 7 arena hall bays ≈12,900 m²; 58 light-service units.
CAUTION: The museum and simulator hall are not located on the current drawing — see slides 11–12.
SOURCE: DWG = confirmed layout; numbering and grouping =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Explain how the district meets the city: road frontage, access, parking.
TALKING POINTS:
- The frontage road is shown with an illustrative cross-section; the narration identifies the frontage as Madinah Road — to be confirmed for the selected site.
- Entry/exit positions, junction design and parking quantities are not yet assessed.
SOURCE: Layout = DWG. Road cross-section, context massing = illustrative assumptions. Road name per narration (S2) and earlier masterplan (S5) — not shown on the DWG.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the street-level character of the showroom frontage.
TALKING POINTS:
- Unit sizes and arrangement follow the DWG: 23 standard (~240 m²), 21 premium (~350–370 m²), 7 flagship (~390–460 m²), 1 flagship-plus (540 m²).
- Heights 9–14 m and the façade kit are illustrative design development.
- Brand bands are deliberately left blank: no brand commitments are implied.
SOURCE: DWG footprints; design language from JMD Concept 1 pp.3–6 and 31–33; voice notes 1–2 stress the street-level feeling of the boulevard; render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Answer "will it look uniform?" — brands get identity, the district stays coherent.
TALKING POINTS:
- Voice-note intent: showrooms should have different possible looks rather than identical, typical boxes.
- Five façade options from the concept (louvre, minimal, frame, stone &amp; glass, angled canopy) are applied as a kit of parts.
- Shared plinth, roof line, bronze blades and the blank brand band keep the frontage coherent.
SOURCE: Options = JMD Concept 1 p.5; application = new design development; renders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the public, pedestrian side of the district.
TALKING POINTS:
- The retail row is drawn as 29 units facing the showroom row across the internal drive.
- Tenant mix is indicative (voice note 2 examples: accessories shops, a brand design store, cafés); arcade and shade are design proposals.
SOURCE: DWG footprints (labelled "commercial shop"); programme from JMD Concept 1 p.13 and earlier masterplan zone 7; render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Introduce the arena as the district's landmark and event anchor.
TALKING POINTS:
- Form follows the triangular site at the southern tip of the DWG; floating roof, glazed concourse, bronze-fin upper façade.
- Hall bays can operate separately or together (see next slide).
- Earlier concept images show different arena forms (glass dome, faceted pavilion); this deck consolidates on the current drawing.
SOURCE: DWG (arena halls ≈12,911 m²; concourse band ≈5,911 m²); render new. Capacities: not yet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Demonstrate flexibility — the same hall serves launches, motor shows, conferences and public events.
TALKING POINTS:
- The drawing divides the arena into 7 bays that can be used independently or combined (concept Mode 01–03).
- Six configurations from the concept: 360°, 270°, 180° theatre, runway, exhibition, e-karting.
- Capacities in the earlier concept vary by mode (approx. 4,500–12,000) and are NOT yet confirmed — placeholders left for the team.
SOURCE: Modes = JMD Concept 1 pp.17–23; hall geometry = DWG; interior renders and diagrams new and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Explain the off-road experience and where it sits.
TALKING POINTS:
- The drawing defines the off-road zone (≈5.4 ha incl. loop) with 7 obstacle areas inside a test-drive loop.
- Voice-note intent: simulate a real off-road experience within an urban setting — five or six experiences such as mud, water, and driving up and down hills.
- Obstacle types and heights shown are illustrative (mounds ~10 m, mud/water crossing, rocks, ramps, side-slope).
- Earlier masterplan quoted a 2.5 km loop; the current drawing's loop is shorter — length to be confirmed.
SOURCE: DWG zones; JMD Concept 1 p.7 and project voice note 2 for intent; render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Introduce the museum as a heritage attraction (explicitly not a showroom).
TALKING POINTS:
- Focus (per voice note 2): a museum of the car companies' achievements as corporations — a visitor path past collected cars, founders and milestones. Explicitly not a showroom or sales space.
- Location and building form are open: the earlier concept shows two different exterior designs and the current drawing does not include the museum.
SOURCE: Intent = JMD Concept 1 pp.8–10 and voice note 2; interior render new and illustrative; location unresolved (register item).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an all-weather, all-ages attraction.
TALKING POINTS:
- Per voice note 2: multiple simulators, each giving the experience of driving a specific car (examples given ranged from supercars to an off-roader and a city car).
- Screens shown with neutral imagery; brand content would be licensed.
SOURCE: Intent = JMD Concept 1 pp.11–12; render new and illustrative; location unresolved.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Present the exclusive club and its place in the district.
TALKING POINTS:
- Footprint as drawn: a 30 x 117 m bar (≈3,500 m²) between the arena and off-road zone.
- Per voice note 2: a club for collectors of luxury and collectible cars — members can store their cars or simply come to spend time (lounge, café).
- Three levels per the earlier concept; storage location (basement) to be confirmed.
SOURCE: DWG footprint; intent from JMD Concept 1 pp.14–15 and earlier masterplan zone 3; renders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the public-facing event space.
TALKING POINTS:
- Located at the arena's southern entrance (DWG "outdoor function area").
- Shade sails, reveal stage and planting are illustrative.
- Event-day crowd management to be developed with the municipality.
SOURCE: DWG; intent JMD Concept 1 p.16; render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that the components work together as one destination.
TALKING POINTS:
- Three typical visits: customer, family/day visitor, event night.
- Operational traffic (service village, dealer storage, deliveries) stays at the back of the site, away from the public frontage.
- Routes are indicative; detailed movement and access design to follow.
SOURCE: Diagram new; routes drawn on the DWG-based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Separate the district concept from location-specific proposals.
TALKING POINTS:
- Three location options appear in the concept material; none is approved.
- The current drawing (FINAL 8-10-2026) is a location-specific layout; the site it relates to and its boundary are to be confirmed.
- Site areas quoted in earlier material differ (≈170,000–180,000 m²) from the current drawing's boundary (≈41 ha) — to be reconciled.
SOURCE: Images reproduced from JMD Concept 1 pp.24–25 (satellite imagery as supplied).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Bring the district back together and name what needs coordination next.
TALKING POINTS:
- One coherent district: commercial frontage, public attractions, events, operations at the back.
- The listed topics are proposed discussion items — no technical assessments have been completed and no approvals are implied.
SOURCE: Render new (DWG layout); coordination list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Close and invite discussion.
TALKING POINTS: Summarise the three roles (buy &amp; maintain, experience &amp; learn, gather &amp; celebrate) and propose next steps: site confirmation, traffic and parking study, programme confirmation (museum, simulator, arena capacity).
SOURCE: Render new; this street-level view corresponds to the view described in the project narration (showrooms on the main road with the arena and club behind).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D Hero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D Content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556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JEDDAH MOTOR DISTRICT  ·  CONCEPT FOR DISCUSSION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3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PRESENTATION  ·  MUNICIPALITY OF JEDDAH</a:t>
            </a:r>
            <a:endParaRPr lang="en-US" sz="1200" dirty="0"/>
          </a:p>
        </p:txBody>
      </p:sp>
      <p:sp>
        <p:nvSpPr>
          <p:cNvPr id="3" name="deck title"/>
          <p:cNvSpPr txBox="1"/>
          <p:nvPr/>
        </p:nvSpPr>
        <p:spPr>
          <a:xfrm>
            <a:off x="640080" y="4297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Jeddah Motor District</a:t>
            </a:r>
            <a:endParaRPr lang="en-US" sz="48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5257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automotive destination: retail, experiences, heritage and events in one district</a:t>
            </a:r>
            <a:endParaRPr lang="en-US" sz="1800" dirty="0"/>
          </a:p>
        </p:txBody>
      </p:sp>
      <p:sp>
        <p:nvSpPr>
          <p:cNvPr id="5" name="date and presenter"/>
          <p:cNvSpPr txBox="1"/>
          <p:nvPr/>
        </p:nvSpPr>
        <p:spPr>
          <a:xfrm>
            <a:off x="6400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[Presenter name, organisation]</a:t>
            </a:r>
            <a:endParaRPr lang="en-US" sz="1200" dirty="0"/>
          </a:p>
        </p:txBody>
      </p:sp>
      <p:sp>
        <p:nvSpPr>
          <p:cNvPr id="6" name="image tag"/>
          <p:cNvSpPr txBox="1"/>
          <p:nvPr/>
        </p:nvSpPr>
        <p:spPr>
          <a:xfrm>
            <a:off x="8778240" y="6446520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3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an automotive retail destination</a:t>
            </a:r>
            <a:endParaRPr lang="en-US" sz="3200" dirty="0"/>
          </a:p>
        </p:txBody>
      </p:sp>
      <p:sp>
        <p:nvSpPr>
          <p:cNvPr id="4" name="block head"/>
          <p:cNvSpPr txBox="1"/>
          <p:nvPr/>
        </p:nvSpPr>
        <p:spPr>
          <a:xfrm>
            <a:off x="640080" y="5074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MAINTAIN</a:t>
            </a:r>
            <a:endParaRPr lang="en-US" sz="1100" dirty="0"/>
          </a:p>
        </p:txBody>
      </p:sp>
      <p:sp>
        <p:nvSpPr>
          <p:cNvPr id="5" name="block body"/>
          <p:cNvSpPr txBox="1"/>
          <p:nvPr/>
        </p:nvSpPr>
        <p:spPr>
          <a:xfrm>
            <a:off x="640080" y="536752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showrooms, test drives and a dedicated light-service and spare-parts village in one place.</a:t>
            </a:r>
            <a:endParaRPr lang="en-US" sz="1400" dirty="0"/>
          </a:p>
        </p:txBody>
      </p:sp>
      <p:sp>
        <p:nvSpPr>
          <p:cNvPr id="6" name="block head"/>
          <p:cNvSpPr txBox="1"/>
          <p:nvPr/>
        </p:nvSpPr>
        <p:spPr>
          <a:xfrm>
            <a:off x="4389120" y="5074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&amp; LEARN</a:t>
            </a:r>
            <a:endParaRPr lang="en-US" sz="1100" dirty="0"/>
          </a:p>
        </p:txBody>
      </p:sp>
      <p:sp>
        <p:nvSpPr>
          <p:cNvPr id="7" name="block body"/>
          <p:cNvSpPr txBox="1"/>
          <p:nvPr/>
        </p:nvSpPr>
        <p:spPr>
          <a:xfrm>
            <a:off x="4389120" y="536752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Off-road driving, simulators and automotive heritage, open to visitors who are not buying a car.</a:t>
            </a:r>
            <a:endParaRPr lang="en-US" sz="1400" dirty="0"/>
          </a:p>
        </p:txBody>
      </p:sp>
      <p:sp>
        <p:nvSpPr>
          <p:cNvPr id="8" name="block head"/>
          <p:cNvSpPr txBox="1"/>
          <p:nvPr/>
        </p:nvSpPr>
        <p:spPr>
          <a:xfrm>
            <a:off x="8138160" y="5074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&amp; CELEBRATE</a:t>
            </a:r>
            <a:endParaRPr lang="en-US" sz="1100" dirty="0"/>
          </a:p>
        </p:txBody>
      </p:sp>
      <p:sp>
        <p:nvSpPr>
          <p:cNvPr id="9" name="block body"/>
          <p:cNvSpPr txBox="1"/>
          <p:nvPr/>
        </p:nvSpPr>
        <p:spPr>
          <a:xfrm>
            <a:off x="8138160" y="536752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arena, launch plaza and Collectors’ Club for launches, exhibitions and events.</a:t>
            </a:r>
            <a:endParaRPr lang="en-US" sz="1400" dirty="0"/>
          </a:p>
        </p:txBody>
      </p:sp>
      <p:sp>
        <p:nvSpPr>
          <p:cNvPr id="10" name="image tag"/>
          <p:cNvSpPr txBox="1"/>
          <p:nvPr/>
        </p:nvSpPr>
        <p:spPr>
          <a:xfrm>
            <a:off x="8778240" y="228600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PROJECT COMPONENTS AND DISTRICT ORGANISATION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One district, three kinds of place</a:t>
            </a:r>
            <a:endParaRPr lang="en-US" sz="3000" dirty="0"/>
          </a:p>
        </p:txBody>
      </p:sp>
      <p:pic>
        <p:nvPicPr>
          <p:cNvPr id="4" name="Masterplan top view" descr="Masterplan top view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983480" cy="4983480"/>
          </a:xfrm>
          <a:prstGeom prst="rect">
            <a:avLst/>
          </a:prstGeom>
        </p:spPr>
      </p:pic>
      <p:sp>
        <p:nvSpPr>
          <p:cNvPr id="5" name="marker 1"/>
          <p:cNvSpPr/>
          <p:nvPr/>
        </p:nvSpPr>
        <p:spPr>
          <a:xfrm>
            <a:off x="1358597" y="3042703"/>
            <a:ext cx="274320" cy="27432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6" name="marker label 1"/>
          <p:cNvSpPr txBox="1"/>
          <p:nvPr/>
        </p:nvSpPr>
        <p:spPr>
          <a:xfrm>
            <a:off x="1358597" y="30427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marker 2"/>
          <p:cNvSpPr/>
          <p:nvPr/>
        </p:nvSpPr>
        <p:spPr>
          <a:xfrm>
            <a:off x="1902793" y="2688377"/>
            <a:ext cx="274320" cy="27432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8" name="marker label 2"/>
          <p:cNvSpPr txBox="1"/>
          <p:nvPr/>
        </p:nvSpPr>
        <p:spPr>
          <a:xfrm>
            <a:off x="1902793" y="26883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marker 3"/>
          <p:cNvSpPr/>
          <p:nvPr/>
        </p:nvSpPr>
        <p:spPr>
          <a:xfrm>
            <a:off x="1687009" y="4188405"/>
            <a:ext cx="274320" cy="274320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0" name="marker label 3"/>
          <p:cNvSpPr txBox="1"/>
          <p:nvPr/>
        </p:nvSpPr>
        <p:spPr>
          <a:xfrm>
            <a:off x="1687009" y="41884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marker 4"/>
          <p:cNvSpPr/>
          <p:nvPr/>
        </p:nvSpPr>
        <p:spPr>
          <a:xfrm>
            <a:off x="1329693" y="4724129"/>
            <a:ext cx="274320" cy="274320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2" name="marker label 4"/>
          <p:cNvSpPr txBox="1"/>
          <p:nvPr/>
        </p:nvSpPr>
        <p:spPr>
          <a:xfrm>
            <a:off x="1329693" y="472412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4</a:t>
            </a:r>
            <a:endParaRPr lang="en-US" sz="1000" dirty="0"/>
          </a:p>
        </p:txBody>
      </p:sp>
      <p:sp>
        <p:nvSpPr>
          <p:cNvPr id="13" name="marker 5"/>
          <p:cNvSpPr/>
          <p:nvPr/>
        </p:nvSpPr>
        <p:spPr>
          <a:xfrm>
            <a:off x="2142997" y="3709492"/>
            <a:ext cx="274320" cy="274320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4" name="marker label 5"/>
          <p:cNvSpPr txBox="1"/>
          <p:nvPr/>
        </p:nvSpPr>
        <p:spPr>
          <a:xfrm>
            <a:off x="2142997" y="37094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5</a:t>
            </a:r>
            <a:endParaRPr lang="en-US" sz="1000" dirty="0"/>
          </a:p>
        </p:txBody>
      </p:sp>
      <p:sp>
        <p:nvSpPr>
          <p:cNvPr id="15" name="marker 6"/>
          <p:cNvSpPr/>
          <p:nvPr/>
        </p:nvSpPr>
        <p:spPr>
          <a:xfrm>
            <a:off x="2799820" y="2995360"/>
            <a:ext cx="274320" cy="274320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6" name="marker label 6"/>
          <p:cNvSpPr txBox="1"/>
          <p:nvPr/>
        </p:nvSpPr>
        <p:spPr>
          <a:xfrm>
            <a:off x="2799820" y="2995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6</a:t>
            </a:r>
            <a:endParaRPr lang="en-US" sz="1000" dirty="0"/>
          </a:p>
        </p:txBody>
      </p:sp>
      <p:sp>
        <p:nvSpPr>
          <p:cNvPr id="17" name="marker 7"/>
          <p:cNvSpPr/>
          <p:nvPr/>
        </p:nvSpPr>
        <p:spPr>
          <a:xfrm>
            <a:off x="3195508" y="3440384"/>
            <a:ext cx="274320" cy="274320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8" name="marker label 7"/>
          <p:cNvSpPr txBox="1"/>
          <p:nvPr/>
        </p:nvSpPr>
        <p:spPr>
          <a:xfrm>
            <a:off x="3195508" y="3440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marker 8"/>
          <p:cNvSpPr/>
          <p:nvPr/>
        </p:nvSpPr>
        <p:spPr>
          <a:xfrm>
            <a:off x="4140376" y="2227904"/>
            <a:ext cx="274320" cy="274320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20" name="marker label 8"/>
          <p:cNvSpPr txBox="1"/>
          <p:nvPr/>
        </p:nvSpPr>
        <p:spPr>
          <a:xfrm>
            <a:off x="4140376" y="222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8</a:t>
            </a:r>
            <a:endParaRPr lang="en-US" sz="1000" dirty="0"/>
          </a:p>
        </p:txBody>
      </p:sp>
      <p:sp>
        <p:nvSpPr>
          <p:cNvPr id="21" name="marker 9"/>
          <p:cNvSpPr/>
          <p:nvPr/>
        </p:nvSpPr>
        <p:spPr>
          <a:xfrm>
            <a:off x="4655169" y="1891519"/>
            <a:ext cx="274320" cy="274320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22" name="marker label 9"/>
          <p:cNvSpPr txBox="1"/>
          <p:nvPr/>
        </p:nvSpPr>
        <p:spPr>
          <a:xfrm>
            <a:off x="4655169" y="18915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9</a:t>
            </a:r>
            <a:endParaRPr lang="en-US" sz="1000" dirty="0"/>
          </a:p>
        </p:txBody>
      </p:sp>
      <p:sp>
        <p:nvSpPr>
          <p:cNvPr id="23" name="marker 10"/>
          <p:cNvSpPr/>
          <p:nvPr/>
        </p:nvSpPr>
        <p:spPr>
          <a:xfrm>
            <a:off x="615560" y="5514010"/>
            <a:ext cx="274320" cy="274320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24" name="marker label 10"/>
          <p:cNvSpPr txBox="1"/>
          <p:nvPr/>
        </p:nvSpPr>
        <p:spPr>
          <a:xfrm>
            <a:off x="615560" y="55140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10</a:t>
            </a:r>
            <a:endParaRPr lang="en-US" sz="1000" dirty="0"/>
          </a:p>
        </p:txBody>
      </p:sp>
      <p:sp>
        <p:nvSpPr>
          <p:cNvPr id="25" name="marker 11"/>
          <p:cNvSpPr/>
          <p:nvPr/>
        </p:nvSpPr>
        <p:spPr>
          <a:xfrm>
            <a:off x="1511092" y="3361645"/>
            <a:ext cx="274320" cy="274320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26" name="marker label 11"/>
          <p:cNvSpPr txBox="1"/>
          <p:nvPr/>
        </p:nvSpPr>
        <p:spPr>
          <a:xfrm>
            <a:off x="1511092" y="33616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11</a:t>
            </a:r>
            <a:endParaRPr lang="en-US" sz="1000" dirty="0"/>
          </a:p>
        </p:txBody>
      </p:sp>
      <p:sp>
        <p:nvSpPr>
          <p:cNvPr id="27" name="marker 12"/>
          <p:cNvSpPr/>
          <p:nvPr/>
        </p:nvSpPr>
        <p:spPr>
          <a:xfrm>
            <a:off x="1002777" y="5101877"/>
            <a:ext cx="274320" cy="274320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28" name="marker label 12"/>
          <p:cNvSpPr txBox="1"/>
          <p:nvPr/>
        </p:nvSpPr>
        <p:spPr>
          <a:xfrm>
            <a:off x="1002777" y="51018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12</a:t>
            </a:r>
            <a:endParaRPr lang="en-US" sz="1000" dirty="0"/>
          </a:p>
        </p:txBody>
      </p:sp>
      <p:sp>
        <p:nvSpPr>
          <p:cNvPr id="29" name="marker 11"/>
          <p:cNvSpPr/>
          <p:nvPr/>
        </p:nvSpPr>
        <p:spPr>
          <a:xfrm>
            <a:off x="3907647" y="1988198"/>
            <a:ext cx="274320" cy="274320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30" name="marker label 11"/>
          <p:cNvSpPr txBox="1"/>
          <p:nvPr/>
        </p:nvSpPr>
        <p:spPr>
          <a:xfrm>
            <a:off x="3907647" y="19881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11</a:t>
            </a:r>
            <a:endParaRPr lang="en-US" sz="1000" dirty="0"/>
          </a:p>
        </p:txBody>
      </p:sp>
      <p:sp>
        <p:nvSpPr>
          <p:cNvPr id="31" name="legend group"/>
          <p:cNvSpPr txBox="1"/>
          <p:nvPr/>
        </p:nvSpPr>
        <p:spPr>
          <a:xfrm>
            <a:off x="5806440" y="12801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100" dirty="0"/>
          </a:p>
        </p:txBody>
      </p:sp>
      <p:sp>
        <p:nvSpPr>
          <p:cNvPr id="32" name="marker 1"/>
          <p:cNvSpPr/>
          <p:nvPr/>
        </p:nvSpPr>
        <p:spPr>
          <a:xfrm>
            <a:off x="5815584" y="1581912"/>
            <a:ext cx="256032" cy="25603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33" name="marker label 1"/>
          <p:cNvSpPr txBox="1"/>
          <p:nvPr/>
        </p:nvSpPr>
        <p:spPr>
          <a:xfrm>
            <a:off x="5815584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</a:t>
            </a:r>
            <a:endParaRPr lang="en-US" sz="1000" dirty="0"/>
          </a:p>
        </p:txBody>
      </p:sp>
      <p:sp>
        <p:nvSpPr>
          <p:cNvPr id="34" name="legend item"/>
          <p:cNvSpPr txBox="1"/>
          <p:nvPr/>
        </p:nvSpPr>
        <p:spPr>
          <a:xfrm>
            <a:off x="6190488" y="15864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showroom district (52 units)</a:t>
            </a:r>
            <a:endParaRPr lang="en-US" sz="1400" dirty="0"/>
          </a:p>
        </p:txBody>
      </p:sp>
      <p:sp>
        <p:nvSpPr>
          <p:cNvPr id="35" name="marker 2"/>
          <p:cNvSpPr/>
          <p:nvPr/>
        </p:nvSpPr>
        <p:spPr>
          <a:xfrm>
            <a:off x="5815584" y="1892808"/>
            <a:ext cx="256032" cy="25603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36" name="marker label 2"/>
          <p:cNvSpPr txBox="1"/>
          <p:nvPr/>
        </p:nvSpPr>
        <p:spPr>
          <a:xfrm>
            <a:off x="5815584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2</a:t>
            </a:r>
            <a:endParaRPr lang="en-US" sz="1000" dirty="0"/>
          </a:p>
        </p:txBody>
      </p:sp>
      <p:sp>
        <p:nvSpPr>
          <p:cNvPr id="37" name="legend item"/>
          <p:cNvSpPr txBox="1"/>
          <p:nvPr/>
        </p:nvSpPr>
        <p:spPr>
          <a:xfrm>
            <a:off x="6190488" y="18973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retail boulevard</a:t>
            </a:r>
            <a:endParaRPr lang="en-US" sz="1400" dirty="0"/>
          </a:p>
        </p:txBody>
      </p:sp>
      <p:sp>
        <p:nvSpPr>
          <p:cNvPr id="38" name="legend group"/>
          <p:cNvSpPr txBox="1"/>
          <p:nvPr/>
        </p:nvSpPr>
        <p:spPr>
          <a:xfrm>
            <a:off x="5806440" y="21488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C9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ATTRACTIONS &amp; EVENTS</a:t>
            </a:r>
            <a:endParaRPr lang="en-US" sz="1100" dirty="0"/>
          </a:p>
        </p:txBody>
      </p:sp>
      <p:sp>
        <p:nvSpPr>
          <p:cNvPr id="39" name="marker 3"/>
          <p:cNvSpPr/>
          <p:nvPr/>
        </p:nvSpPr>
        <p:spPr>
          <a:xfrm>
            <a:off x="5815584" y="2450592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40" name="marker label 3"/>
          <p:cNvSpPr txBox="1"/>
          <p:nvPr/>
        </p:nvSpPr>
        <p:spPr>
          <a:xfrm>
            <a:off x="5815584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3</a:t>
            </a:r>
            <a:endParaRPr lang="en-US" sz="1000" dirty="0"/>
          </a:p>
        </p:txBody>
      </p:sp>
      <p:sp>
        <p:nvSpPr>
          <p:cNvPr id="41" name="legend item"/>
          <p:cNvSpPr txBox="1"/>
          <p:nvPr/>
        </p:nvSpPr>
        <p:spPr>
          <a:xfrm>
            <a:off x="6190488" y="24551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automotive arena (7 divisible halls)</a:t>
            </a:r>
            <a:endParaRPr lang="en-US" sz="1400" dirty="0"/>
          </a:p>
        </p:txBody>
      </p:sp>
      <p:sp>
        <p:nvSpPr>
          <p:cNvPr id="42" name="marker 4"/>
          <p:cNvSpPr/>
          <p:nvPr/>
        </p:nvSpPr>
        <p:spPr>
          <a:xfrm>
            <a:off x="5815584" y="2761488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43" name="marker label 4"/>
          <p:cNvSpPr txBox="1"/>
          <p:nvPr/>
        </p:nvSpPr>
        <p:spPr>
          <a:xfrm>
            <a:off x="5815584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4</a:t>
            </a:r>
            <a:endParaRPr lang="en-US" sz="1000" dirty="0"/>
          </a:p>
        </p:txBody>
      </p:sp>
      <p:sp>
        <p:nvSpPr>
          <p:cNvPr id="44" name="legend item"/>
          <p:cNvSpPr txBox="1"/>
          <p:nvPr/>
        </p:nvSpPr>
        <p:spPr>
          <a:xfrm>
            <a:off x="6190488" y="27660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launch plaza</a:t>
            </a:r>
            <a:endParaRPr lang="en-US" sz="1400" dirty="0"/>
          </a:p>
        </p:txBody>
      </p:sp>
      <p:sp>
        <p:nvSpPr>
          <p:cNvPr id="45" name="marker 5"/>
          <p:cNvSpPr/>
          <p:nvPr/>
        </p:nvSpPr>
        <p:spPr>
          <a:xfrm>
            <a:off x="5815584" y="3072384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46" name="marker label 5"/>
          <p:cNvSpPr txBox="1"/>
          <p:nvPr/>
        </p:nvSpPr>
        <p:spPr>
          <a:xfrm>
            <a:off x="5815584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5</a:t>
            </a:r>
            <a:endParaRPr lang="en-US" sz="1000" dirty="0"/>
          </a:p>
        </p:txBody>
      </p:sp>
      <p:sp>
        <p:nvSpPr>
          <p:cNvPr id="47" name="legend item"/>
          <p:cNvSpPr txBox="1"/>
          <p:nvPr/>
        </p:nvSpPr>
        <p:spPr>
          <a:xfrm>
            <a:off x="6190488" y="30769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Collectors’ Club</a:t>
            </a:r>
            <a:endParaRPr lang="en-US" sz="1400" dirty="0"/>
          </a:p>
        </p:txBody>
      </p:sp>
      <p:sp>
        <p:nvSpPr>
          <p:cNvPr id="48" name="marker 6"/>
          <p:cNvSpPr/>
          <p:nvPr/>
        </p:nvSpPr>
        <p:spPr>
          <a:xfrm>
            <a:off x="5815584" y="3383280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49" name="marker label 6"/>
          <p:cNvSpPr txBox="1"/>
          <p:nvPr/>
        </p:nvSpPr>
        <p:spPr>
          <a:xfrm>
            <a:off x="5815584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6</a:t>
            </a:r>
            <a:endParaRPr lang="en-US" sz="1000" dirty="0"/>
          </a:p>
        </p:txBody>
      </p:sp>
      <p:sp>
        <p:nvSpPr>
          <p:cNvPr id="50" name="legend item"/>
          <p:cNvSpPr txBox="1"/>
          <p:nvPr/>
        </p:nvSpPr>
        <p:spPr>
          <a:xfrm>
            <a:off x="6190488" y="33878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Off-road experience &amp; test-drive loop</a:t>
            </a:r>
            <a:endParaRPr lang="en-US" sz="1400" dirty="0"/>
          </a:p>
        </p:txBody>
      </p:sp>
      <p:sp>
        <p:nvSpPr>
          <p:cNvPr id="51" name="marker 7"/>
          <p:cNvSpPr/>
          <p:nvPr/>
        </p:nvSpPr>
        <p:spPr>
          <a:xfrm>
            <a:off x="5815584" y="3694176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52" name="marker label 7"/>
          <p:cNvSpPr txBox="1"/>
          <p:nvPr/>
        </p:nvSpPr>
        <p:spPr>
          <a:xfrm>
            <a:off x="5815584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7</a:t>
            </a:r>
            <a:endParaRPr lang="en-US" sz="1000" dirty="0"/>
          </a:p>
        </p:txBody>
      </p:sp>
      <p:sp>
        <p:nvSpPr>
          <p:cNvPr id="53" name="legend item"/>
          <p:cNvSpPr txBox="1"/>
          <p:nvPr/>
        </p:nvSpPr>
        <p:spPr>
          <a:xfrm>
            <a:off x="6190488" y="36987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 centre &amp; guest parking</a:t>
            </a:r>
            <a:endParaRPr lang="en-US" sz="1400" dirty="0"/>
          </a:p>
        </p:txBody>
      </p:sp>
      <p:sp>
        <p:nvSpPr>
          <p:cNvPr id="54" name="legend group"/>
          <p:cNvSpPr txBox="1"/>
          <p:nvPr/>
        </p:nvSpPr>
        <p:spPr>
          <a:xfrm>
            <a:off x="5806440" y="39502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8E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SUPPORT</a:t>
            </a:r>
            <a:endParaRPr lang="en-US" sz="1100" dirty="0"/>
          </a:p>
        </p:txBody>
      </p:sp>
      <p:sp>
        <p:nvSpPr>
          <p:cNvPr id="55" name="marker 8"/>
          <p:cNvSpPr/>
          <p:nvPr/>
        </p:nvSpPr>
        <p:spPr>
          <a:xfrm>
            <a:off x="5815584" y="4251960"/>
            <a:ext cx="256032" cy="256032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56" name="marker label 8"/>
          <p:cNvSpPr txBox="1"/>
          <p:nvPr/>
        </p:nvSpPr>
        <p:spPr>
          <a:xfrm>
            <a:off x="5815584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8</a:t>
            </a:r>
            <a:endParaRPr lang="en-US" sz="1000" dirty="0"/>
          </a:p>
        </p:txBody>
      </p:sp>
      <p:sp>
        <p:nvSpPr>
          <p:cNvPr id="57" name="legend item"/>
          <p:cNvSpPr txBox="1"/>
          <p:nvPr/>
        </p:nvSpPr>
        <p:spPr>
          <a:xfrm>
            <a:off x="6190488" y="42565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Light-service &amp; spare-parts village</a:t>
            </a:r>
            <a:endParaRPr lang="en-US" sz="1400" dirty="0"/>
          </a:p>
        </p:txBody>
      </p:sp>
      <p:sp>
        <p:nvSpPr>
          <p:cNvPr id="58" name="marker 9"/>
          <p:cNvSpPr/>
          <p:nvPr/>
        </p:nvSpPr>
        <p:spPr>
          <a:xfrm>
            <a:off x="5815584" y="4562856"/>
            <a:ext cx="256032" cy="256032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59" name="marker label 9"/>
          <p:cNvSpPr txBox="1"/>
          <p:nvPr/>
        </p:nvSpPr>
        <p:spPr>
          <a:xfrm>
            <a:off x="5815584" y="4562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9</a:t>
            </a:r>
            <a:endParaRPr lang="en-US" sz="1000" dirty="0"/>
          </a:p>
        </p:txBody>
      </p:sp>
      <p:sp>
        <p:nvSpPr>
          <p:cNvPr id="60" name="legend item"/>
          <p:cNvSpPr txBox="1"/>
          <p:nvPr/>
        </p:nvSpPr>
        <p:spPr>
          <a:xfrm>
            <a:off x="6190488" y="45674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storage &amp; vehicle preparation</a:t>
            </a:r>
            <a:endParaRPr lang="en-US" sz="1400" dirty="0"/>
          </a:p>
        </p:txBody>
      </p:sp>
      <p:sp>
        <p:nvSpPr>
          <p:cNvPr id="61" name="marker 10"/>
          <p:cNvSpPr/>
          <p:nvPr/>
        </p:nvSpPr>
        <p:spPr>
          <a:xfrm>
            <a:off x="5815584" y="4873752"/>
            <a:ext cx="256032" cy="256032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62" name="marker label 10"/>
          <p:cNvSpPr txBox="1"/>
          <p:nvPr/>
        </p:nvSpPr>
        <p:spPr>
          <a:xfrm>
            <a:off x="5815584" y="4873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10</a:t>
            </a:r>
            <a:endParaRPr lang="en-US" sz="1000" dirty="0"/>
          </a:p>
        </p:txBody>
      </p:sp>
      <p:sp>
        <p:nvSpPr>
          <p:cNvPr id="63" name="legend item"/>
          <p:cNvSpPr txBox="1"/>
          <p:nvPr/>
        </p:nvSpPr>
        <p:spPr>
          <a:xfrm>
            <a:off x="6190488" y="48783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hub</a:t>
            </a:r>
            <a:endParaRPr lang="en-US" sz="1400" dirty="0"/>
          </a:p>
        </p:txBody>
      </p:sp>
      <p:sp>
        <p:nvSpPr>
          <p:cNvPr id="64" name="marker 11"/>
          <p:cNvSpPr/>
          <p:nvPr/>
        </p:nvSpPr>
        <p:spPr>
          <a:xfrm>
            <a:off x="5815584" y="5184648"/>
            <a:ext cx="256032" cy="256032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65" name="marker label 11"/>
          <p:cNvSpPr txBox="1"/>
          <p:nvPr/>
        </p:nvSpPr>
        <p:spPr>
          <a:xfrm>
            <a:off x="5815584" y="5184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11</a:t>
            </a:r>
            <a:endParaRPr lang="en-US" sz="1000" dirty="0"/>
          </a:p>
        </p:txBody>
      </p:sp>
      <p:sp>
        <p:nvSpPr>
          <p:cNvPr id="66" name="legend item"/>
          <p:cNvSpPr txBox="1"/>
          <p:nvPr/>
        </p:nvSpPr>
        <p:spPr>
          <a:xfrm>
            <a:off x="6190488" y="51892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Mosques (2)</a:t>
            </a:r>
            <a:endParaRPr lang="en-US" sz="1400" dirty="0"/>
          </a:p>
        </p:txBody>
      </p:sp>
      <p:sp>
        <p:nvSpPr>
          <p:cNvPr id="67" name="marker 12"/>
          <p:cNvSpPr/>
          <p:nvPr/>
        </p:nvSpPr>
        <p:spPr>
          <a:xfrm>
            <a:off x="5815584" y="5495544"/>
            <a:ext cx="256032" cy="256032"/>
          </a:xfrm>
          <a:prstGeom prst="ellipse">
            <a:avLst/>
          </a:prstGeom>
          <a:solidFill>
            <a:srgbClr val="8E8A83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68" name="marker label 12"/>
          <p:cNvSpPr txBox="1"/>
          <p:nvPr/>
        </p:nvSpPr>
        <p:spPr>
          <a:xfrm>
            <a:off x="5815584" y="5495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12</a:t>
            </a:r>
            <a:endParaRPr lang="en-US" sz="1000" dirty="0"/>
          </a:p>
        </p:txBody>
      </p:sp>
      <p:sp>
        <p:nvSpPr>
          <p:cNvPr id="69" name="legend item"/>
          <p:cNvSpPr txBox="1"/>
          <p:nvPr/>
        </p:nvSpPr>
        <p:spPr>
          <a:xfrm>
            <a:off x="6190488" y="55001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management</a:t>
            </a:r>
            <a:endParaRPr lang="en-US" sz="1400" dirty="0"/>
          </a:p>
        </p:txBody>
      </p:sp>
      <p:sp>
        <p:nvSpPr>
          <p:cNvPr id="70" name="plan note"/>
          <p:cNvSpPr txBox="1"/>
          <p:nvPr/>
        </p:nvSpPr>
        <p:spPr>
          <a:xfrm>
            <a:off x="5806440" y="587044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FINAL 8-10-2026 drawing. Heights, landscape, roads beyond the boundary and surrounding context are illustrative.</a:t>
            </a:r>
            <a:endParaRPr lang="en-US" sz="1000" dirty="0"/>
          </a:p>
        </p:txBody>
      </p:sp>
      <p:sp>
        <p:nvSpPr>
          <p:cNvPr id="71" name="image tag"/>
          <p:cNvSpPr txBox="1"/>
          <p:nvPr/>
        </p:nvSpPr>
        <p:spPr>
          <a:xfrm>
            <a:off x="457200" y="6025896"/>
            <a:ext cx="402336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 · NORTH UP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URBAN INTEGRATION AND ARRIVAL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A clear address on the main road</a:t>
            </a:r>
            <a:endParaRPr lang="en-US" sz="3000" dirty="0"/>
          </a:p>
        </p:txBody>
      </p:sp>
      <p:pic>
        <p:nvPicPr>
          <p:cNvPr id="4" name="Arrival view from the frontage road" descr="Arrival view from the frontage roa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7680960" cy="4320540"/>
          </a:xfrm>
          <a:prstGeom prst="rect">
            <a:avLst/>
          </a:prstGeom>
        </p:spPr>
      </p:pic>
      <p:sp>
        <p:nvSpPr>
          <p:cNvPr id="5" name="image tag"/>
          <p:cNvSpPr txBox="1"/>
          <p:nvPr/>
        </p:nvSpPr>
        <p:spPr>
          <a:xfrm>
            <a:off x="457200" y="5362956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sp>
        <p:nvSpPr>
          <p:cNvPr id="6" name="block head"/>
          <p:cNvSpPr txBox="1"/>
          <p:nvPr/>
        </p:nvSpPr>
        <p:spPr>
          <a:xfrm>
            <a:off x="8458200" y="1325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FRONTAGE ADDRESS</a:t>
            </a:r>
            <a:endParaRPr lang="en-US" sz="1100" dirty="0"/>
          </a:p>
        </p:txBody>
      </p:sp>
      <p:sp>
        <p:nvSpPr>
          <p:cNvPr id="7" name="block body"/>
          <p:cNvSpPr txBox="1"/>
          <p:nvPr/>
        </p:nvSpPr>
        <p:spPr>
          <a:xfrm>
            <a:off x="8458200" y="161848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showroom row lines the main-road frontage, set behind customer parking and a landscaped verge.</a:t>
            </a:r>
            <a:endParaRPr lang="en-US" sz="1400" dirty="0"/>
          </a:p>
        </p:txBody>
      </p:sp>
      <p:sp>
        <p:nvSpPr>
          <p:cNvPr id="8" name="block head"/>
          <p:cNvSpPr txBox="1"/>
          <p:nvPr/>
        </p:nvSpPr>
        <p:spPr>
          <a:xfrm>
            <a:off x="8458200" y="2606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FROM TWO SIDES</a:t>
            </a:r>
            <a:endParaRPr lang="en-US" sz="1100" dirty="0"/>
          </a:p>
        </p:txBody>
      </p:sp>
      <p:sp>
        <p:nvSpPr>
          <p:cNvPr id="9" name="block body"/>
          <p:cNvSpPr txBox="1"/>
          <p:nvPr/>
        </p:nvSpPr>
        <p:spPr>
          <a:xfrm>
            <a:off x="8458200" y="28986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road serves visitors and showrooms. The south-east road serves events and operations.</a:t>
            </a:r>
            <a:endParaRPr lang="en-US" sz="1400" dirty="0"/>
          </a:p>
        </p:txBody>
      </p:sp>
      <p:sp>
        <p:nvSpPr>
          <p:cNvPr id="10" name="block head"/>
          <p:cNvSpPr txBox="1"/>
          <p:nvPr/>
        </p:nvSpPr>
        <p:spPr>
          <a:xfrm>
            <a:off x="8458200" y="3886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AT EACH DESTINATION</a:t>
            </a:r>
            <a:endParaRPr lang="en-US" sz="1100" dirty="0"/>
          </a:p>
        </p:txBody>
      </p:sp>
      <p:sp>
        <p:nvSpPr>
          <p:cNvPr id="11" name="block body"/>
          <p:cNvSpPr txBox="1"/>
          <p:nvPr/>
        </p:nvSpPr>
        <p:spPr>
          <a:xfrm>
            <a:off x="8458200" y="41788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bays are distributed between the rows and next to the arena, test-drive centre and service village.</a:t>
            </a:r>
            <a:endParaRPr lang="en-US" sz="1400" dirty="0"/>
          </a:p>
        </p:txBody>
      </p:sp>
      <p:sp>
        <p:nvSpPr>
          <p:cNvPr id="12" name="discussion point frame"/>
          <p:cNvSpPr/>
          <p:nvPr/>
        </p:nvSpPr>
        <p:spPr>
          <a:xfrm>
            <a:off x="457200" y="5760720"/>
            <a:ext cx="11292840" cy="566928"/>
          </a:xfrm>
          <a:prstGeom prst="roundRect">
            <a:avLst>
              <a:gd name="adj" fmla="val 9677"/>
            </a:avLst>
          </a:prstGeom>
          <a:solidFill>
            <a:srgbClr val="2B2C2F"/>
          </a:solidFill>
          <a:ln w="9525">
            <a:solidFill>
              <a:srgbClr val="7A5C3A"/>
            </a:solidFill>
            <a:prstDash val="solid"/>
          </a:ln>
        </p:spPr>
      </p:sp>
      <p:sp>
        <p:nvSpPr>
          <p:cNvPr id="13" name="discussion point"/>
          <p:cNvSpPr txBox="1"/>
          <p:nvPr/>
        </p:nvSpPr>
        <p:spPr>
          <a:xfrm>
            <a:off x="594360" y="583387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9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points, junction arrangements and event-day traffic require a traffic impact study and municipal coordination.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AUTOMOTIVE SHOWROOM DISTRICT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A coordinated frontage of brand showrooms</a:t>
            </a:r>
            <a:endParaRPr lang="en-US" sz="3000" dirty="0"/>
          </a:p>
        </p:txBody>
      </p:sp>
      <p:pic>
        <p:nvPicPr>
          <p:cNvPr id="4" name="Showroom frontage at street level" descr="Showroom frontage at street leve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8138160" cy="4572000"/>
          </a:xfrm>
          <a:prstGeom prst="rect">
            <a:avLst/>
          </a:prstGeom>
        </p:spPr>
      </p:pic>
      <p:sp>
        <p:nvSpPr>
          <p:cNvPr id="5" name="image tag"/>
          <p:cNvSpPr txBox="1"/>
          <p:nvPr/>
        </p:nvSpPr>
        <p:spPr>
          <a:xfrm>
            <a:off x="457200" y="5614416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pic>
        <p:nvPicPr>
          <p:cNvPr id="6" name="Showroom boulevard from above" descr="Showroom boulevard from abov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69680" y="1280160"/>
            <a:ext cx="2880360" cy="1618488"/>
          </a:xfrm>
          <a:prstGeom prst="rect">
            <a:avLst/>
          </a:prstGeom>
        </p:spPr>
      </p:pic>
      <p:sp>
        <p:nvSpPr>
          <p:cNvPr id="7" name="block head"/>
          <p:cNvSpPr txBox="1"/>
          <p:nvPr/>
        </p:nvSpPr>
        <p:spPr>
          <a:xfrm>
            <a:off x="8869680" y="31089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FRONTAGE, MANY BRANDS</a:t>
            </a:r>
            <a:endParaRPr lang="en-US" sz="1100" dirty="0"/>
          </a:p>
        </p:txBody>
      </p:sp>
      <p:sp>
        <p:nvSpPr>
          <p:cNvPr id="8" name="block body"/>
          <p:cNvSpPr txBox="1"/>
          <p:nvPr/>
        </p:nvSpPr>
        <p:spPr>
          <a:xfrm>
            <a:off x="8869680" y="3401568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showroom units in standard, premium and flagship sizes, joined by one plinth, roof line and shading canopy.</a:t>
            </a:r>
            <a:endParaRPr lang="en-US" sz="1400" dirty="0"/>
          </a:p>
        </p:txBody>
      </p:sp>
      <p:sp>
        <p:nvSpPr>
          <p:cNvPr id="9" name="block head"/>
          <p:cNvSpPr txBox="1"/>
          <p:nvPr/>
        </p:nvSpPr>
        <p:spPr>
          <a:xfrm>
            <a:off x="8869680" y="46634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PARKING AT THE DOOR</a:t>
            </a:r>
            <a:endParaRPr lang="en-US" sz="1100" dirty="0"/>
          </a:p>
        </p:txBody>
      </p:sp>
      <p:sp>
        <p:nvSpPr>
          <p:cNvPr id="10" name="block body"/>
          <p:cNvSpPr txBox="1"/>
          <p:nvPr/>
        </p:nvSpPr>
        <p:spPr>
          <a:xfrm>
            <a:off x="8869680" y="495604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showroom faces its own parking bay and the frontage service drive.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INDIVIDUAL SHOWROOM IDENTITIES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Brand expression within one district language</a:t>
            </a:r>
            <a:endParaRPr lang="en-US" sz="3000" dirty="0"/>
          </a:p>
        </p:txBody>
      </p:sp>
      <p:pic>
        <p:nvPicPr>
          <p:cNvPr id="4" name="Vertical louvre + minimal" descr="Vertical louvre + minima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3611880" cy="2029968"/>
          </a:xfrm>
          <a:prstGeom prst="rect">
            <a:avLst/>
          </a:prstGeom>
        </p:spPr>
      </p:pic>
      <p:sp>
        <p:nvSpPr>
          <p:cNvPr id="5" name="block head"/>
          <p:cNvSpPr txBox="1"/>
          <p:nvPr/>
        </p:nvSpPr>
        <p:spPr>
          <a:xfrm>
            <a:off x="457200" y="3520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LOUVRE + MINIMAL</a:t>
            </a:r>
            <a:endParaRPr lang="en-US" sz="1100" dirty="0"/>
          </a:p>
        </p:txBody>
      </p:sp>
      <p:sp>
        <p:nvSpPr>
          <p:cNvPr id="6" name="block body"/>
          <p:cNvSpPr txBox="1"/>
          <p:nvPr/>
        </p:nvSpPr>
        <p:spPr>
          <a:xfrm>
            <a:off x="457200" y="381304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fins shade the glass; a minimal neighbour sits beside it.</a:t>
            </a:r>
            <a:endParaRPr lang="en-US" sz="1400" dirty="0"/>
          </a:p>
        </p:txBody>
      </p:sp>
      <p:pic>
        <p:nvPicPr>
          <p:cNvPr id="7" name="Contemporary frame" descr="Contemporary fram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25880"/>
            <a:ext cx="3611880" cy="2029968"/>
          </a:xfrm>
          <a:prstGeom prst="rect">
            <a:avLst/>
          </a:prstGeom>
        </p:spPr>
      </p:pic>
      <p:sp>
        <p:nvSpPr>
          <p:cNvPr id="8" name="block head"/>
          <p:cNvSpPr txBox="1"/>
          <p:nvPr/>
        </p:nvSpPr>
        <p:spPr>
          <a:xfrm>
            <a:off x="4270248" y="3520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FRAME</a:t>
            </a:r>
            <a:endParaRPr lang="en-US" sz="1100" dirty="0"/>
          </a:p>
        </p:txBody>
      </p:sp>
      <p:sp>
        <p:nvSpPr>
          <p:cNvPr id="9" name="block body"/>
          <p:cNvSpPr txBox="1"/>
          <p:nvPr/>
        </p:nvSpPr>
        <p:spPr>
          <a:xfrm>
            <a:off x="4270248" y="381304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protruding stone portal marks a flagship or premium brand.</a:t>
            </a:r>
            <a:endParaRPr lang="en-US" sz="1400" dirty="0"/>
          </a:p>
        </p:txBody>
      </p:sp>
      <p:pic>
        <p:nvPicPr>
          <p:cNvPr id="10" name="Stone &amp; glass" descr="Stone &amp; glas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83296" y="1325880"/>
            <a:ext cx="3611880" cy="2029968"/>
          </a:xfrm>
          <a:prstGeom prst="rect">
            <a:avLst/>
          </a:prstGeom>
        </p:spPr>
      </p:pic>
      <p:sp>
        <p:nvSpPr>
          <p:cNvPr id="11" name="block head"/>
          <p:cNvSpPr txBox="1"/>
          <p:nvPr/>
        </p:nvSpPr>
        <p:spPr>
          <a:xfrm>
            <a:off x="8083296" y="3520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&amp; GLASS</a:t>
            </a:r>
            <a:endParaRPr lang="en-US" sz="1100" dirty="0"/>
          </a:p>
        </p:txBody>
      </p:sp>
      <p:sp>
        <p:nvSpPr>
          <p:cNvPr id="12" name="block body"/>
          <p:cNvSpPr txBox="1"/>
          <p:nvPr/>
        </p:nvSpPr>
        <p:spPr>
          <a:xfrm>
            <a:off x="8083296" y="381304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limestone pier balances a fully glazed display.</a:t>
            </a:r>
            <a:endParaRPr lang="en-US" sz="1400" dirty="0"/>
          </a:p>
        </p:txBody>
      </p:sp>
      <p:sp>
        <p:nvSpPr>
          <p:cNvPr id="13" name="shared elements panel"/>
          <p:cNvSpPr/>
          <p:nvPr/>
        </p:nvSpPr>
        <p:spPr>
          <a:xfrm>
            <a:off x="457200" y="4754880"/>
            <a:ext cx="11292840" cy="1051560"/>
          </a:xfrm>
          <a:prstGeom prst="roundRect">
            <a:avLst>
              <a:gd name="adj" fmla="val 5217"/>
            </a:avLst>
          </a:prstGeom>
          <a:solidFill>
            <a:srgbClr val="2B2C2F"/>
          </a:solidFill>
          <a:ln w="12700">
            <a:solidFill>
              <a:srgbClr val="2B2C2F"/>
            </a:solidFill>
            <a:prstDash val="solid"/>
          </a:ln>
        </p:spPr>
      </p:sp>
      <p:sp>
        <p:nvSpPr>
          <p:cNvPr id="14" name="shared elements"/>
          <p:cNvSpPr txBox="1"/>
          <p:nvPr/>
        </p:nvSpPr>
        <p:spPr>
          <a:xfrm>
            <a:off x="685800" y="4846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EVERY SHOWROOM 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plinth  ·  roof edge and front canopy  ·  bronze corner blades  ·  graphite brand band (left blank for each brand)  ·  limestone-tone side walls</a:t>
            </a:r>
            <a:endParaRPr lang="en-US" sz="1400" dirty="0"/>
          </a:p>
        </p:txBody>
      </p:sp>
      <p:sp>
        <p:nvSpPr>
          <p:cNvPr id="15" name="image tag"/>
          <p:cNvSpPr txBox="1"/>
          <p:nvPr/>
        </p:nvSpPr>
        <p:spPr>
          <a:xfrm>
            <a:off x="457200" y="5943600"/>
            <a:ext cx="47548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 · PALMS OMITTED FOR CLARITY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COMMERCIAL AND LIFESTYLE BOULEVARD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Shaded retail facing the showroom row</a:t>
            </a:r>
            <a:endParaRPr lang="en-US" sz="3000" dirty="0"/>
          </a:p>
        </p:txBody>
      </p:sp>
      <p:pic>
        <p:nvPicPr>
          <p:cNvPr id="4" name="Lifestyle arcade" descr="Lifestyle arca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280160"/>
            <a:ext cx="7680960" cy="4320540"/>
          </a:xfrm>
          <a:prstGeom prst="rect">
            <a:avLst/>
          </a:prstGeom>
        </p:spPr>
      </p:pic>
      <p:sp>
        <p:nvSpPr>
          <p:cNvPr id="5" name="image tag"/>
          <p:cNvSpPr txBox="1"/>
          <p:nvPr/>
        </p:nvSpPr>
        <p:spPr>
          <a:xfrm>
            <a:off x="4069080" y="5362956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sp>
        <p:nvSpPr>
          <p:cNvPr id="6" name="block head"/>
          <p:cNvSpPr txBox="1"/>
          <p:nvPr/>
        </p:nvSpPr>
        <p:spPr>
          <a:xfrm>
            <a:off x="457200" y="1325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SHOWROOMS</a:t>
            </a:r>
            <a:endParaRPr lang="en-US" sz="1100" dirty="0"/>
          </a:p>
        </p:txBody>
      </p:sp>
      <p:sp>
        <p:nvSpPr>
          <p:cNvPr id="7" name="block body"/>
          <p:cNvSpPr txBox="1"/>
          <p:nvPr/>
        </p:nvSpPr>
        <p:spPr>
          <a:xfrm>
            <a:off x="457200" y="161848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units for automotive accessories, brand lifestyle and design stores, cafés and food &amp; beverage.</a:t>
            </a:r>
            <a:endParaRPr lang="en-US" sz="1400" dirty="0"/>
          </a:p>
        </p:txBody>
      </p:sp>
      <p:sp>
        <p:nvSpPr>
          <p:cNvPr id="8" name="block head"/>
          <p:cNvSpPr txBox="1"/>
          <p:nvPr/>
        </p:nvSpPr>
        <p:spPr>
          <a:xfrm>
            <a:off x="457200" y="2697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SHADE</a:t>
            </a:r>
            <a:endParaRPr lang="en-US" sz="1100" dirty="0"/>
          </a:p>
        </p:txBody>
      </p:sp>
      <p:sp>
        <p:nvSpPr>
          <p:cNvPr id="9" name="block body"/>
          <p:cNvSpPr txBox="1"/>
          <p:nvPr/>
        </p:nvSpPr>
        <p:spPr>
          <a:xfrm>
            <a:off x="457200" y="299008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5.5 m deep arcade on slender bronze columns provides shaded walking along the whole row.</a:t>
            </a:r>
            <a:endParaRPr lang="en-US" sz="1400" dirty="0"/>
          </a:p>
        </p:txBody>
      </p:sp>
      <p:sp>
        <p:nvSpPr>
          <p:cNvPr id="10" name="block head"/>
          <p:cNvSpPr txBox="1"/>
          <p:nvPr/>
        </p:nvSpPr>
        <p:spPr>
          <a:xfrm>
            <a:off x="45720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 VISITORS</a:t>
            </a:r>
            <a:endParaRPr lang="en-US" sz="1100" dirty="0"/>
          </a:p>
        </p:txBody>
      </p:sp>
      <p:sp>
        <p:nvSpPr>
          <p:cNvPr id="11" name="block body"/>
          <p:cNvSpPr txBox="1"/>
          <p:nvPr/>
        </p:nvSpPr>
        <p:spPr>
          <a:xfrm>
            <a:off x="457200" y="436168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 visit without buying a car, which keeps the district active through the day and evening.</a:t>
            </a:r>
            <a:endParaRPr lang="en-US" sz="1400" dirty="0"/>
          </a:p>
        </p:txBody>
      </p:sp>
      <p:sp>
        <p:nvSpPr>
          <p:cNvPr id="12" name="discussion point frame"/>
          <p:cNvSpPr/>
          <p:nvPr/>
        </p:nvSpPr>
        <p:spPr>
          <a:xfrm>
            <a:off x="457200" y="5760720"/>
            <a:ext cx="11292840" cy="566928"/>
          </a:xfrm>
          <a:prstGeom prst="roundRect">
            <a:avLst>
              <a:gd name="adj" fmla="val 9677"/>
            </a:avLst>
          </a:prstGeom>
          <a:solidFill>
            <a:srgbClr val="2B2C2F"/>
          </a:solidFill>
          <a:ln w="9525">
            <a:solidFill>
              <a:srgbClr val="7A5C3A"/>
            </a:solidFill>
            <a:prstDash val="solid"/>
          </a:ln>
        </p:spPr>
      </p:sp>
      <p:sp>
        <p:nvSpPr>
          <p:cNvPr id="13" name="discussion point"/>
          <p:cNvSpPr txBox="1"/>
          <p:nvPr/>
        </p:nvSpPr>
        <p:spPr>
          <a:xfrm>
            <a:off x="594360" y="583387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9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crossings between the showroom and retail rows, shade standards and F&amp;B outdoor seating.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GRAND AUTOMOTIVE ARENA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A landmark venue at the district’s southern tip</a:t>
            </a:r>
            <a:endParaRPr lang="en-US" sz="3000" dirty="0"/>
          </a:p>
        </p:txBody>
      </p:sp>
      <p:pic>
        <p:nvPicPr>
          <p:cNvPr id="4" name="Grand arena exterior" descr="Grand arena exteri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11292840" cy="4800600"/>
          </a:xfrm>
          <a:prstGeom prst="rect">
            <a:avLst/>
          </a:prstGeom>
        </p:spPr>
      </p:pic>
      <p:sp>
        <p:nvSpPr>
          <p:cNvPr id="5" name="facts panel"/>
          <p:cNvSpPr/>
          <p:nvPr/>
        </p:nvSpPr>
        <p:spPr>
          <a:xfrm>
            <a:off x="685800" y="4160520"/>
            <a:ext cx="3931920" cy="1691640"/>
          </a:xfrm>
          <a:prstGeom prst="roundRect">
            <a:avLst>
              <a:gd name="adj" fmla="val 3243"/>
            </a:avLst>
          </a:prstGeom>
          <a:solidFill>
            <a:srgbClr val="1B1C1E">
              <a:alpha val="85000"/>
            </a:srgbClr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6" name="block head"/>
          <p:cNvSpPr txBox="1"/>
          <p:nvPr/>
        </p:nvSpPr>
        <p:spPr>
          <a:xfrm>
            <a:off x="868680" y="42976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DRAWN</a:t>
            </a:r>
            <a:endParaRPr lang="en-US" sz="1100" dirty="0"/>
          </a:p>
        </p:txBody>
      </p:sp>
      <p:sp>
        <p:nvSpPr>
          <p:cNvPr id="7" name="block body"/>
          <p:cNvSpPr txBox="1"/>
          <p:nvPr/>
        </p:nvSpPr>
        <p:spPr>
          <a:xfrm>
            <a:off x="868680" y="459028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divisible hall bays, about 12,900 m², under one roof with a shaded concourse and an entrance on the launch plaza.</a:t>
            </a:r>
            <a:endParaRPr lang="en-US" sz="1400" dirty="0"/>
          </a:p>
        </p:txBody>
      </p:sp>
      <p:sp>
        <p:nvSpPr>
          <p:cNvPr id="8" name="image tag"/>
          <p:cNvSpPr txBox="1"/>
          <p:nvPr/>
        </p:nvSpPr>
        <p:spPr>
          <a:xfrm>
            <a:off x="8823960" y="5843016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GRAND ARENA — FLEXIBLE EVENTS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One floor, many configurations</a:t>
            </a:r>
            <a:endParaRPr lang="en-US" sz="3000" dirty="0"/>
          </a:p>
        </p:txBody>
      </p:sp>
      <p:pic>
        <p:nvPicPr>
          <p:cNvPr id="4" name="Arena exhibition mode" descr="Arena exhibition m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532120" cy="3108960"/>
          </a:xfrm>
          <a:prstGeom prst="rect">
            <a:avLst/>
          </a:prstGeom>
        </p:spPr>
      </p:pic>
      <p:pic>
        <p:nvPicPr>
          <p:cNvPr id="5" name="Arena theatre mode" descr="Arena theatre m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532120" cy="3108960"/>
          </a:xfrm>
          <a:prstGeom prst="rect">
            <a:avLst/>
          </a:prstGeom>
        </p:spPr>
      </p:pic>
      <p:sp>
        <p:nvSpPr>
          <p:cNvPr id="6" name="image tag"/>
          <p:cNvSpPr txBox="1"/>
          <p:nvPr/>
        </p:nvSpPr>
        <p:spPr>
          <a:xfrm>
            <a:off x="457200" y="4151376"/>
            <a:ext cx="274320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EXHIBITION MODE · ILLUSTRATIVE</a:t>
            </a:r>
            <a:endParaRPr lang="en-US" sz="900" dirty="0"/>
          </a:p>
        </p:txBody>
      </p:sp>
      <p:sp>
        <p:nvSpPr>
          <p:cNvPr id="7" name="image tag"/>
          <p:cNvSpPr txBox="1"/>
          <p:nvPr/>
        </p:nvSpPr>
        <p:spPr>
          <a:xfrm>
            <a:off x="6217920" y="4151376"/>
            <a:ext cx="283464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180° THEATRE MODE · ILLUSTRATIVE</a:t>
            </a:r>
            <a:endParaRPr lang="en-US" sz="900" dirty="0"/>
          </a:p>
        </p:txBody>
      </p:sp>
      <p:sp>
        <p:nvSpPr>
          <p:cNvPr id="8" name="mode 360° arena frame"/>
          <p:cNvSpPr/>
          <p:nvPr/>
        </p:nvSpPr>
        <p:spPr>
          <a:xfrm>
            <a:off x="457200" y="4572000"/>
            <a:ext cx="1737360" cy="1051560"/>
          </a:xfrm>
          <a:prstGeom prst="rect">
            <a:avLst/>
          </a:prstGeom>
          <a:solidFill>
            <a:srgbClr val="2B2C2F"/>
          </a:solidFill>
          <a:ln w="12700">
            <a:solidFill>
              <a:srgbClr val="2B2C2F"/>
            </a:solidFill>
            <a:prstDash val="solid"/>
          </a:ln>
        </p:spPr>
      </p:sp>
      <p:sp>
        <p:nvSpPr>
          <p:cNvPr id="9" name="mode 360° arena floor"/>
          <p:cNvSpPr/>
          <p:nvPr/>
        </p:nvSpPr>
        <p:spPr>
          <a:xfrm>
            <a:off x="868680" y="48006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4A4B4F"/>
          </a:solidFill>
          <a:ln w="12700">
            <a:solidFill>
              <a:srgbClr val="4A4B4F"/>
            </a:solidFill>
            <a:prstDash val="solid"/>
          </a:ln>
        </p:spPr>
      </p:sp>
      <p:sp>
        <p:nvSpPr>
          <p:cNvPr id="10" name="mode 360° arena seating"/>
          <p:cNvSpPr/>
          <p:nvPr/>
        </p:nvSpPr>
        <p:spPr>
          <a:xfrm>
            <a:off x="868680" y="4645152"/>
            <a:ext cx="914400" cy="109728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1" name="mode 360° arena seating"/>
          <p:cNvSpPr/>
          <p:nvPr/>
        </p:nvSpPr>
        <p:spPr>
          <a:xfrm>
            <a:off x="868680" y="5413248"/>
            <a:ext cx="914400" cy="109728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2" name="mode 360° arena seating"/>
          <p:cNvSpPr/>
          <p:nvPr/>
        </p:nvSpPr>
        <p:spPr>
          <a:xfrm>
            <a:off x="713232" y="4800600"/>
            <a:ext cx="109728" cy="566928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3" name="mode 360° arena seating"/>
          <p:cNvSpPr/>
          <p:nvPr/>
        </p:nvSpPr>
        <p:spPr>
          <a:xfrm>
            <a:off x="1828800" y="4800600"/>
            <a:ext cx="109728" cy="566928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4" name="mode 360° arena label"/>
          <p:cNvSpPr txBox="1"/>
          <p:nvPr/>
        </p:nvSpPr>
        <p:spPr>
          <a:xfrm>
            <a:off x="457200" y="5669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arena</a:t>
            </a:r>
            <a:endParaRPr lang="en-US" sz="1100" dirty="0"/>
          </a:p>
        </p:txBody>
      </p:sp>
      <p:sp>
        <p:nvSpPr>
          <p:cNvPr id="15" name="mode 360° arena capacity"/>
          <p:cNvSpPr txBox="1"/>
          <p:nvPr/>
        </p:nvSpPr>
        <p:spPr>
          <a:xfrm>
            <a:off x="457200" y="5897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TBC]</a:t>
            </a:r>
            <a:endParaRPr lang="en-US" sz="1000" dirty="0"/>
          </a:p>
        </p:txBody>
      </p:sp>
      <p:sp>
        <p:nvSpPr>
          <p:cNvPr id="16" name="mode 270° arena frame"/>
          <p:cNvSpPr/>
          <p:nvPr/>
        </p:nvSpPr>
        <p:spPr>
          <a:xfrm>
            <a:off x="2350008" y="4572000"/>
            <a:ext cx="1737360" cy="1051560"/>
          </a:xfrm>
          <a:prstGeom prst="rect">
            <a:avLst/>
          </a:prstGeom>
          <a:solidFill>
            <a:srgbClr val="2B2C2F"/>
          </a:solidFill>
          <a:ln w="12700">
            <a:solidFill>
              <a:srgbClr val="2B2C2F"/>
            </a:solidFill>
            <a:prstDash val="solid"/>
          </a:ln>
        </p:spPr>
      </p:sp>
      <p:sp>
        <p:nvSpPr>
          <p:cNvPr id="17" name="mode 270° arena floor"/>
          <p:cNvSpPr/>
          <p:nvPr/>
        </p:nvSpPr>
        <p:spPr>
          <a:xfrm>
            <a:off x="2761488" y="48006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4A4B4F"/>
          </a:solidFill>
          <a:ln w="12700">
            <a:solidFill>
              <a:srgbClr val="4A4B4F"/>
            </a:solidFill>
            <a:prstDash val="solid"/>
          </a:ln>
        </p:spPr>
      </p:sp>
      <p:sp>
        <p:nvSpPr>
          <p:cNvPr id="18" name="mode 270° arena seating"/>
          <p:cNvSpPr/>
          <p:nvPr/>
        </p:nvSpPr>
        <p:spPr>
          <a:xfrm>
            <a:off x="2761488" y="4645152"/>
            <a:ext cx="914400" cy="109728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9" name="mode 270° arena seating"/>
          <p:cNvSpPr/>
          <p:nvPr/>
        </p:nvSpPr>
        <p:spPr>
          <a:xfrm>
            <a:off x="2606040" y="4800600"/>
            <a:ext cx="109728" cy="566928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0" name="mode 270° arena seating"/>
          <p:cNvSpPr/>
          <p:nvPr/>
        </p:nvSpPr>
        <p:spPr>
          <a:xfrm>
            <a:off x="3721608" y="4800600"/>
            <a:ext cx="109728" cy="566928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1" name="mode 270° arena open back-of-house"/>
          <p:cNvSpPr/>
          <p:nvPr/>
        </p:nvSpPr>
        <p:spPr>
          <a:xfrm>
            <a:off x="2761488" y="5458968"/>
            <a:ext cx="914400" cy="0"/>
          </a:xfrm>
          <a:prstGeom prst="line">
            <a:avLst/>
          </a:prstGeom>
          <a:noFill/>
          <a:ln w="12700">
            <a:solidFill>
              <a:srgbClr val="D8D1C5"/>
            </a:solidFill>
            <a:prstDash val="dash"/>
          </a:ln>
        </p:spPr>
      </p:sp>
      <p:sp>
        <p:nvSpPr>
          <p:cNvPr id="22" name="mode 270° arena label"/>
          <p:cNvSpPr txBox="1"/>
          <p:nvPr/>
        </p:nvSpPr>
        <p:spPr>
          <a:xfrm>
            <a:off x="2350008" y="5669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270° arena</a:t>
            </a:r>
            <a:endParaRPr lang="en-US" sz="1100" dirty="0"/>
          </a:p>
        </p:txBody>
      </p:sp>
      <p:sp>
        <p:nvSpPr>
          <p:cNvPr id="23" name="mode 270° arena capacity"/>
          <p:cNvSpPr txBox="1"/>
          <p:nvPr/>
        </p:nvSpPr>
        <p:spPr>
          <a:xfrm>
            <a:off x="2350008" y="5897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TBC]</a:t>
            </a:r>
            <a:endParaRPr lang="en-US" sz="1000" dirty="0"/>
          </a:p>
        </p:txBody>
      </p:sp>
      <p:sp>
        <p:nvSpPr>
          <p:cNvPr id="24" name="mode 180° theatre frame"/>
          <p:cNvSpPr/>
          <p:nvPr/>
        </p:nvSpPr>
        <p:spPr>
          <a:xfrm>
            <a:off x="4242816" y="4572000"/>
            <a:ext cx="1737360" cy="1051560"/>
          </a:xfrm>
          <a:prstGeom prst="rect">
            <a:avLst/>
          </a:prstGeom>
          <a:solidFill>
            <a:srgbClr val="2B2C2F"/>
          </a:solidFill>
          <a:ln w="12700">
            <a:solidFill>
              <a:srgbClr val="2B2C2F"/>
            </a:solidFill>
            <a:prstDash val="solid"/>
          </a:ln>
        </p:spPr>
      </p:sp>
      <p:sp>
        <p:nvSpPr>
          <p:cNvPr id="25" name="mode 180° theatre floor"/>
          <p:cNvSpPr/>
          <p:nvPr/>
        </p:nvSpPr>
        <p:spPr>
          <a:xfrm>
            <a:off x="4654296" y="48006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4A4B4F"/>
          </a:solidFill>
          <a:ln w="12700">
            <a:solidFill>
              <a:srgbClr val="4A4B4F"/>
            </a:solidFill>
            <a:prstDash val="solid"/>
          </a:ln>
        </p:spPr>
      </p:sp>
      <p:sp>
        <p:nvSpPr>
          <p:cNvPr id="26" name="mode 180° theatre stage"/>
          <p:cNvSpPr/>
          <p:nvPr/>
        </p:nvSpPr>
        <p:spPr>
          <a:xfrm>
            <a:off x="4791456" y="4837176"/>
            <a:ext cx="640080" cy="9144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7" name="mode 180° theatre seating"/>
          <p:cNvSpPr/>
          <p:nvPr/>
        </p:nvSpPr>
        <p:spPr>
          <a:xfrm>
            <a:off x="4709160" y="5129784"/>
            <a:ext cx="219456" cy="18288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8" name="mode 180° theatre seating"/>
          <p:cNvSpPr/>
          <p:nvPr/>
        </p:nvSpPr>
        <p:spPr>
          <a:xfrm>
            <a:off x="5001768" y="5175504"/>
            <a:ext cx="219456" cy="18288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9" name="mode 180° theatre seating"/>
          <p:cNvSpPr/>
          <p:nvPr/>
        </p:nvSpPr>
        <p:spPr>
          <a:xfrm>
            <a:off x="5294376" y="5129784"/>
            <a:ext cx="219456" cy="18288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0" name="mode 180° theatre label"/>
          <p:cNvSpPr txBox="1"/>
          <p:nvPr/>
        </p:nvSpPr>
        <p:spPr>
          <a:xfrm>
            <a:off x="4242816" y="5669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 theatre</a:t>
            </a:r>
            <a:endParaRPr lang="en-US" sz="1100" dirty="0"/>
          </a:p>
        </p:txBody>
      </p:sp>
      <p:sp>
        <p:nvSpPr>
          <p:cNvPr id="31" name="mode 180° theatre capacity"/>
          <p:cNvSpPr txBox="1"/>
          <p:nvPr/>
        </p:nvSpPr>
        <p:spPr>
          <a:xfrm>
            <a:off x="4242816" y="5897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TBC]</a:t>
            </a:r>
            <a:endParaRPr lang="en-US" sz="1000" dirty="0"/>
          </a:p>
        </p:txBody>
      </p:sp>
      <p:sp>
        <p:nvSpPr>
          <p:cNvPr id="32" name="mode Runway frame"/>
          <p:cNvSpPr/>
          <p:nvPr/>
        </p:nvSpPr>
        <p:spPr>
          <a:xfrm>
            <a:off x="6135624" y="4572000"/>
            <a:ext cx="1737360" cy="1051560"/>
          </a:xfrm>
          <a:prstGeom prst="rect">
            <a:avLst/>
          </a:prstGeom>
          <a:solidFill>
            <a:srgbClr val="2B2C2F"/>
          </a:solidFill>
          <a:ln w="12700">
            <a:solidFill>
              <a:srgbClr val="2B2C2F"/>
            </a:solidFill>
            <a:prstDash val="solid"/>
          </a:ln>
        </p:spPr>
      </p:sp>
      <p:sp>
        <p:nvSpPr>
          <p:cNvPr id="33" name="mode Runway floor"/>
          <p:cNvSpPr/>
          <p:nvPr/>
        </p:nvSpPr>
        <p:spPr>
          <a:xfrm>
            <a:off x="6547104" y="48006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4A4B4F"/>
          </a:solidFill>
          <a:ln w="12700">
            <a:solidFill>
              <a:srgbClr val="4A4B4F"/>
            </a:solidFill>
            <a:prstDash val="solid"/>
          </a:ln>
        </p:spPr>
      </p:sp>
      <p:sp>
        <p:nvSpPr>
          <p:cNvPr id="34" name="mode Runway runway"/>
          <p:cNvSpPr/>
          <p:nvPr/>
        </p:nvSpPr>
        <p:spPr>
          <a:xfrm>
            <a:off x="6940296" y="4837176"/>
            <a:ext cx="128016" cy="493776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35" name="mode Runway seating"/>
          <p:cNvSpPr/>
          <p:nvPr/>
        </p:nvSpPr>
        <p:spPr>
          <a:xfrm>
            <a:off x="6638544" y="4873752"/>
            <a:ext cx="228600" cy="420624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6" name="mode Runway seating"/>
          <p:cNvSpPr/>
          <p:nvPr/>
        </p:nvSpPr>
        <p:spPr>
          <a:xfrm>
            <a:off x="7141464" y="4873752"/>
            <a:ext cx="228600" cy="420624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7" name="mode Runway label"/>
          <p:cNvSpPr txBox="1"/>
          <p:nvPr/>
        </p:nvSpPr>
        <p:spPr>
          <a:xfrm>
            <a:off x="6135624" y="5669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100" dirty="0"/>
          </a:p>
        </p:txBody>
      </p:sp>
      <p:sp>
        <p:nvSpPr>
          <p:cNvPr id="38" name="mode Runway capacity"/>
          <p:cNvSpPr txBox="1"/>
          <p:nvPr/>
        </p:nvSpPr>
        <p:spPr>
          <a:xfrm>
            <a:off x="6135624" y="5897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TBC]</a:t>
            </a:r>
            <a:endParaRPr lang="en-US" sz="1000" dirty="0"/>
          </a:p>
        </p:txBody>
      </p:sp>
      <p:sp>
        <p:nvSpPr>
          <p:cNvPr id="39" name="mode Exhibition frame"/>
          <p:cNvSpPr/>
          <p:nvPr/>
        </p:nvSpPr>
        <p:spPr>
          <a:xfrm>
            <a:off x="8028432" y="4572000"/>
            <a:ext cx="1737360" cy="1051560"/>
          </a:xfrm>
          <a:prstGeom prst="rect">
            <a:avLst/>
          </a:prstGeom>
          <a:solidFill>
            <a:srgbClr val="2B2C2F"/>
          </a:solidFill>
          <a:ln w="12700">
            <a:solidFill>
              <a:srgbClr val="2B2C2F"/>
            </a:solidFill>
            <a:prstDash val="solid"/>
          </a:ln>
        </p:spPr>
      </p:sp>
      <p:sp>
        <p:nvSpPr>
          <p:cNvPr id="40" name="mode Exhibition stand"/>
          <p:cNvSpPr/>
          <p:nvPr/>
        </p:nvSpPr>
        <p:spPr>
          <a:xfrm>
            <a:off x="8485632" y="4855464"/>
            <a:ext cx="219456" cy="18288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41" name="mode Exhibition stand"/>
          <p:cNvSpPr/>
          <p:nvPr/>
        </p:nvSpPr>
        <p:spPr>
          <a:xfrm>
            <a:off x="8787384" y="4855464"/>
            <a:ext cx="219456" cy="18288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42" name="mode Exhibition stand"/>
          <p:cNvSpPr/>
          <p:nvPr/>
        </p:nvSpPr>
        <p:spPr>
          <a:xfrm>
            <a:off x="9089136" y="4855464"/>
            <a:ext cx="219456" cy="18288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43" name="mode Exhibition stand"/>
          <p:cNvSpPr/>
          <p:nvPr/>
        </p:nvSpPr>
        <p:spPr>
          <a:xfrm>
            <a:off x="8485632" y="5129784"/>
            <a:ext cx="219456" cy="18288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44" name="mode Exhibition stand"/>
          <p:cNvSpPr/>
          <p:nvPr/>
        </p:nvSpPr>
        <p:spPr>
          <a:xfrm>
            <a:off x="8787384" y="5129784"/>
            <a:ext cx="219456" cy="18288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45" name="mode Exhibition stand"/>
          <p:cNvSpPr/>
          <p:nvPr/>
        </p:nvSpPr>
        <p:spPr>
          <a:xfrm>
            <a:off x="9089136" y="5129784"/>
            <a:ext cx="219456" cy="18288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46" name="mode Exhibition label"/>
          <p:cNvSpPr txBox="1"/>
          <p:nvPr/>
        </p:nvSpPr>
        <p:spPr>
          <a:xfrm>
            <a:off x="8028432" y="5669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</a:t>
            </a:r>
            <a:endParaRPr lang="en-US" sz="1100" dirty="0"/>
          </a:p>
        </p:txBody>
      </p:sp>
      <p:sp>
        <p:nvSpPr>
          <p:cNvPr id="47" name="mode Exhibition capacity"/>
          <p:cNvSpPr txBox="1"/>
          <p:nvPr/>
        </p:nvSpPr>
        <p:spPr>
          <a:xfrm>
            <a:off x="8028432" y="5897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TBC]</a:t>
            </a:r>
            <a:endParaRPr lang="en-US" sz="1000" dirty="0"/>
          </a:p>
        </p:txBody>
      </p:sp>
      <p:sp>
        <p:nvSpPr>
          <p:cNvPr id="48" name="mode E-karting frame"/>
          <p:cNvSpPr/>
          <p:nvPr/>
        </p:nvSpPr>
        <p:spPr>
          <a:xfrm>
            <a:off x="9921240" y="4572000"/>
            <a:ext cx="1737360" cy="1051560"/>
          </a:xfrm>
          <a:prstGeom prst="rect">
            <a:avLst/>
          </a:prstGeom>
          <a:solidFill>
            <a:srgbClr val="2B2C2F"/>
          </a:solidFill>
          <a:ln w="12700">
            <a:solidFill>
              <a:srgbClr val="2B2C2F"/>
            </a:solidFill>
            <a:prstDash val="solid"/>
          </a:ln>
        </p:spPr>
      </p:sp>
      <p:sp>
        <p:nvSpPr>
          <p:cNvPr id="49" name="mode E-karting track"/>
          <p:cNvSpPr/>
          <p:nvPr/>
        </p:nvSpPr>
        <p:spPr>
          <a:xfrm>
            <a:off x="10332720" y="4800600"/>
            <a:ext cx="914400" cy="566928"/>
          </a:xfrm>
          <a:prstGeom prst="roundRect">
            <a:avLst>
              <a:gd name="adj" fmla="val 32258"/>
            </a:avLst>
          </a:prstGeom>
          <a:solidFill>
            <a:srgbClr val="2B2C2F"/>
          </a:solidFill>
          <a:ln w="25400">
            <a:solidFill>
              <a:srgbClr val="C9B48A"/>
            </a:solidFill>
            <a:prstDash val="solid"/>
          </a:ln>
        </p:spPr>
      </p:sp>
      <p:sp>
        <p:nvSpPr>
          <p:cNvPr id="50" name="mode E-karting track inner"/>
          <p:cNvSpPr/>
          <p:nvPr/>
        </p:nvSpPr>
        <p:spPr>
          <a:xfrm>
            <a:off x="10561320" y="4983480"/>
            <a:ext cx="457200" cy="201168"/>
          </a:xfrm>
          <a:prstGeom prst="roundRect">
            <a:avLst>
              <a:gd name="adj" fmla="val 45455"/>
            </a:avLst>
          </a:prstGeom>
          <a:solidFill>
            <a:srgbClr val="2B2C2F"/>
          </a:solidFill>
          <a:ln w="25400">
            <a:solidFill>
              <a:srgbClr val="C9B48A"/>
            </a:solidFill>
            <a:prstDash val="solid"/>
          </a:ln>
        </p:spPr>
      </p:sp>
      <p:sp>
        <p:nvSpPr>
          <p:cNvPr id="51" name="mode E-karting label"/>
          <p:cNvSpPr txBox="1"/>
          <p:nvPr/>
        </p:nvSpPr>
        <p:spPr>
          <a:xfrm>
            <a:off x="9921240" y="5669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E-karting</a:t>
            </a:r>
            <a:endParaRPr lang="en-US" sz="1100" dirty="0"/>
          </a:p>
        </p:txBody>
      </p:sp>
      <p:sp>
        <p:nvSpPr>
          <p:cNvPr id="52" name="mode E-karting capacity"/>
          <p:cNvSpPr txBox="1"/>
          <p:nvPr/>
        </p:nvSpPr>
        <p:spPr>
          <a:xfrm>
            <a:off x="9921240" y="5897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TBC]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OFF-ROAD DRIVING EXPERIENCE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Real off-road terrain, inside the city</a:t>
            </a:r>
            <a:endParaRPr lang="en-US" sz="3000" dirty="0"/>
          </a:p>
        </p:txBody>
      </p:sp>
      <p:pic>
        <p:nvPicPr>
          <p:cNvPr id="4" name="Off-road experience" descr="Off-road experienc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7680960" cy="4320540"/>
          </a:xfrm>
          <a:prstGeom prst="rect">
            <a:avLst/>
          </a:prstGeom>
        </p:spPr>
      </p:pic>
      <p:sp>
        <p:nvSpPr>
          <p:cNvPr id="5" name="image tag"/>
          <p:cNvSpPr txBox="1"/>
          <p:nvPr/>
        </p:nvSpPr>
        <p:spPr>
          <a:xfrm>
            <a:off x="457200" y="5362956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1325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ZONES (AS DRAWN)</a:t>
            </a:r>
            <a:endParaRPr lang="en-US" sz="1100" dirty="0"/>
          </a:p>
        </p:txBody>
      </p:sp>
      <p:sp>
        <p:nvSpPr>
          <p:cNvPr id="7" name="marker 1"/>
          <p:cNvSpPr/>
          <p:nvPr/>
        </p:nvSpPr>
        <p:spPr>
          <a:xfrm>
            <a:off x="8467344" y="1700784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8" name="marker label 1"/>
          <p:cNvSpPr txBox="1"/>
          <p:nvPr/>
        </p:nvSpPr>
        <p:spPr>
          <a:xfrm>
            <a:off x="8467344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1709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 and descent</a:t>
            </a:r>
            <a:endParaRPr lang="en-US" sz="1400" dirty="0"/>
          </a:p>
        </p:txBody>
      </p:sp>
      <p:sp>
        <p:nvSpPr>
          <p:cNvPr id="10" name="marker 2"/>
          <p:cNvSpPr/>
          <p:nvPr/>
        </p:nvSpPr>
        <p:spPr>
          <a:xfrm>
            <a:off x="8467344" y="2130552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1" name="marker label 2"/>
          <p:cNvSpPr txBox="1"/>
          <p:nvPr/>
        </p:nvSpPr>
        <p:spPr>
          <a:xfrm>
            <a:off x="8467344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2139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 and water crossing</a:t>
            </a:r>
            <a:endParaRPr lang="en-US" sz="1400" dirty="0"/>
          </a:p>
        </p:txBody>
      </p:sp>
      <p:sp>
        <p:nvSpPr>
          <p:cNvPr id="13" name="marker 3"/>
          <p:cNvSpPr/>
          <p:nvPr/>
        </p:nvSpPr>
        <p:spPr>
          <a:xfrm>
            <a:off x="8467344" y="2560320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4" name="marker label 3"/>
          <p:cNvSpPr txBox="1"/>
          <p:nvPr/>
        </p:nvSpPr>
        <p:spPr>
          <a:xfrm>
            <a:off x="8467344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0" y="2569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 field</a:t>
            </a:r>
            <a:endParaRPr lang="en-US" sz="1400" dirty="0"/>
          </a:p>
        </p:txBody>
      </p:sp>
      <p:sp>
        <p:nvSpPr>
          <p:cNvPr id="16" name="marker 4"/>
          <p:cNvSpPr/>
          <p:nvPr/>
        </p:nvSpPr>
        <p:spPr>
          <a:xfrm>
            <a:off x="8467344" y="2990088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7" name="marker label 4"/>
          <p:cNvSpPr txBox="1"/>
          <p:nvPr/>
        </p:nvSpPr>
        <p:spPr>
          <a:xfrm>
            <a:off x="8467344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crawl</a:t>
            </a:r>
            <a:endParaRPr lang="en-US" sz="1400" dirty="0"/>
          </a:p>
        </p:txBody>
      </p:sp>
      <p:sp>
        <p:nvSpPr>
          <p:cNvPr id="19" name="marker 5"/>
          <p:cNvSpPr/>
          <p:nvPr/>
        </p:nvSpPr>
        <p:spPr>
          <a:xfrm>
            <a:off x="8467344" y="3419856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20" name="marker label 5"/>
          <p:cNvSpPr txBox="1"/>
          <p:nvPr/>
        </p:nvSpPr>
        <p:spPr>
          <a:xfrm>
            <a:off x="8467344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Axle-twister ramps</a:t>
            </a:r>
            <a:endParaRPr lang="en-US" sz="1400" dirty="0"/>
          </a:p>
        </p:txBody>
      </p:sp>
      <p:sp>
        <p:nvSpPr>
          <p:cNvPr id="22" name="marker 6"/>
          <p:cNvSpPr/>
          <p:nvPr/>
        </p:nvSpPr>
        <p:spPr>
          <a:xfrm>
            <a:off x="8467344" y="3849624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23" name="marker label 6"/>
          <p:cNvSpPr txBox="1"/>
          <p:nvPr/>
        </p:nvSpPr>
        <p:spPr>
          <a:xfrm>
            <a:off x="8467344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Side-slope section</a:t>
            </a:r>
            <a:endParaRPr lang="en-US" sz="1400" dirty="0"/>
          </a:p>
        </p:txBody>
      </p:sp>
      <p:sp>
        <p:nvSpPr>
          <p:cNvPr id="25" name="marker 7"/>
          <p:cNvSpPr/>
          <p:nvPr/>
        </p:nvSpPr>
        <p:spPr>
          <a:xfrm>
            <a:off x="8467344" y="4279392"/>
            <a:ext cx="256032" cy="256032"/>
          </a:xfrm>
          <a:prstGeom prst="ellipse">
            <a:avLst/>
          </a:prstGeom>
          <a:solidFill>
            <a:srgbClr val="C9B48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26" name="marker label 7"/>
          <p:cNvSpPr txBox="1"/>
          <p:nvPr/>
        </p:nvSpPr>
        <p:spPr>
          <a:xfrm>
            <a:off x="8467344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7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4288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Kerbed test-drive loop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45820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pavilion, drop-off, test-car and guest parking sit at the south-east entrance.</a:t>
            </a:r>
            <a:endParaRPr lang="en-US" sz="1200" dirty="0"/>
          </a:p>
        </p:txBody>
      </p:sp>
      <p:sp>
        <p:nvSpPr>
          <p:cNvPr id="29" name="discussion point frame"/>
          <p:cNvSpPr/>
          <p:nvPr/>
        </p:nvSpPr>
        <p:spPr>
          <a:xfrm>
            <a:off x="457200" y="5760720"/>
            <a:ext cx="11292840" cy="566928"/>
          </a:xfrm>
          <a:prstGeom prst="roundRect">
            <a:avLst>
              <a:gd name="adj" fmla="val 9677"/>
            </a:avLst>
          </a:prstGeom>
          <a:solidFill>
            <a:srgbClr val="2B2C2F"/>
          </a:solidFill>
          <a:ln w="9525">
            <a:solidFill>
              <a:srgbClr val="7A5C3A"/>
            </a:solidFill>
            <a:prstDash val="solid"/>
          </a:ln>
        </p:spPr>
      </p:sp>
      <p:sp>
        <p:nvSpPr>
          <p:cNvPr id="30" name="discussion point"/>
          <p:cNvSpPr txBox="1"/>
          <p:nvPr/>
        </p:nvSpPr>
        <p:spPr>
          <a:xfrm>
            <a:off x="594360" y="583387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9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separation, dust and noise management, and operating hours next to public areas.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WALL OF FAME — AUTOMOTIVE HERITAGE MUSEUM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The stories behind the brands</a:t>
            </a:r>
            <a:endParaRPr lang="en-US" sz="3000" dirty="0"/>
          </a:p>
        </p:txBody>
      </p:sp>
      <p:pic>
        <p:nvPicPr>
          <p:cNvPr id="4" name="Wall of Fame museum interior" descr="Wall of Fame museum interi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7680960" cy="4320540"/>
          </a:xfrm>
          <a:prstGeom prst="rect">
            <a:avLst/>
          </a:prstGeom>
        </p:spPr>
      </p:pic>
      <p:sp>
        <p:nvSpPr>
          <p:cNvPr id="5" name="image tag"/>
          <p:cNvSpPr txBox="1"/>
          <p:nvPr/>
        </p:nvSpPr>
        <p:spPr>
          <a:xfrm>
            <a:off x="457200" y="5362956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sp>
        <p:nvSpPr>
          <p:cNvPr id="6" name="block head"/>
          <p:cNvSpPr txBox="1"/>
          <p:nvPr/>
        </p:nvSpPr>
        <p:spPr>
          <a:xfrm>
            <a:off x="8458200" y="1325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HERITAGE, NOT SALES</a:t>
            </a:r>
            <a:endParaRPr lang="en-US" sz="1100" dirty="0"/>
          </a:p>
        </p:txBody>
      </p:sp>
      <p:sp>
        <p:nvSpPr>
          <p:cNvPr id="7" name="block body"/>
          <p:cNvSpPr txBox="1"/>
          <p:nvPr/>
        </p:nvSpPr>
        <p:spPr>
          <a:xfrm>
            <a:off x="8458200" y="161848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museum path through the corporate achievements of automotive companies: founders, milestones and collected cars.</a:t>
            </a:r>
            <a:endParaRPr lang="en-US" sz="1400" dirty="0"/>
          </a:p>
        </p:txBody>
      </p:sp>
      <p:sp>
        <p:nvSpPr>
          <p:cNvPr id="8" name="block head"/>
          <p:cNvSpPr txBox="1"/>
          <p:nvPr/>
        </p:nvSpPr>
        <p:spPr>
          <a:xfrm>
            <a:off x="8458200" y="2697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CONTENT</a:t>
            </a:r>
            <a:endParaRPr lang="en-US" sz="1100" dirty="0"/>
          </a:p>
        </p:txBody>
      </p:sp>
      <p:sp>
        <p:nvSpPr>
          <p:cNvPr id="9" name="block body"/>
          <p:cNvSpPr txBox="1"/>
          <p:nvPr/>
        </p:nvSpPr>
        <p:spPr>
          <a:xfrm>
            <a:off x="8458200" y="299008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panels and display cars are shown blank here. Content is to be curated with the brands.</a:t>
            </a:r>
            <a:endParaRPr lang="en-US" sz="1400" dirty="0"/>
          </a:p>
        </p:txBody>
      </p:sp>
      <p:sp>
        <p:nvSpPr>
          <p:cNvPr id="10" name="block head"/>
          <p:cNvSpPr txBox="1"/>
          <p:nvPr/>
        </p:nvSpPr>
        <p:spPr>
          <a:xfrm>
            <a:off x="845820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1" name="block body"/>
          <p:cNvSpPr txBox="1"/>
          <p:nvPr/>
        </p:nvSpPr>
        <p:spPr>
          <a:xfrm>
            <a:off x="8458200" y="436168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confirmed: it is not located on the current drawing. Options include the arena complex or next to the Collectors’ Club.]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AUTOMOTIVE SIMULATOR HALL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Experience driving many different cars</a:t>
            </a:r>
            <a:endParaRPr lang="en-US" sz="3000" dirty="0"/>
          </a:p>
        </p:txBody>
      </p:sp>
      <p:pic>
        <p:nvPicPr>
          <p:cNvPr id="4" name="Simulator hall interior" descr="Simulator hall interi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280160"/>
            <a:ext cx="7680960" cy="4320540"/>
          </a:xfrm>
          <a:prstGeom prst="rect">
            <a:avLst/>
          </a:prstGeom>
        </p:spPr>
      </p:pic>
      <p:sp>
        <p:nvSpPr>
          <p:cNvPr id="5" name="image tag"/>
          <p:cNvSpPr txBox="1"/>
          <p:nvPr/>
        </p:nvSpPr>
        <p:spPr>
          <a:xfrm>
            <a:off x="4069080" y="5362956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sp>
        <p:nvSpPr>
          <p:cNvPr id="6" name="block head"/>
          <p:cNvSpPr txBox="1"/>
          <p:nvPr/>
        </p:nvSpPr>
        <p:spPr>
          <a:xfrm>
            <a:off x="457200" y="1325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VISITOR</a:t>
            </a:r>
            <a:endParaRPr lang="en-US" sz="1100" dirty="0"/>
          </a:p>
        </p:txBody>
      </p:sp>
      <p:sp>
        <p:nvSpPr>
          <p:cNvPr id="7" name="block body"/>
          <p:cNvSpPr txBox="1"/>
          <p:nvPr/>
        </p:nvSpPr>
        <p:spPr>
          <a:xfrm>
            <a:off x="457200" y="161848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simulators let visitors experience driving specific cars, from a supercar to an off-roader or a city car.</a:t>
            </a:r>
            <a:endParaRPr lang="en-US" sz="1400" dirty="0"/>
          </a:p>
        </p:txBody>
      </p:sp>
      <p:sp>
        <p:nvSpPr>
          <p:cNvPr id="8" name="block head"/>
          <p:cNvSpPr txBox="1"/>
          <p:nvPr/>
        </p:nvSpPr>
        <p:spPr>
          <a:xfrm>
            <a:off x="457200" y="2697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&amp; SOCIAL</a:t>
            </a:r>
            <a:endParaRPr lang="en-US" sz="1100" dirty="0"/>
          </a:p>
        </p:txBody>
      </p:sp>
      <p:sp>
        <p:nvSpPr>
          <p:cNvPr id="9" name="block body"/>
          <p:cNvSpPr txBox="1"/>
          <p:nvPr/>
        </p:nvSpPr>
        <p:spPr>
          <a:xfrm>
            <a:off x="457200" y="299008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rigs, a feature 360° pod and a lounge support sessions, leagues and corporate events.</a:t>
            </a:r>
            <a:endParaRPr lang="en-US" sz="1400" dirty="0"/>
          </a:p>
        </p:txBody>
      </p:sp>
      <p:sp>
        <p:nvSpPr>
          <p:cNvPr id="10" name="block head"/>
          <p:cNvSpPr txBox="1"/>
          <p:nvPr/>
        </p:nvSpPr>
        <p:spPr>
          <a:xfrm>
            <a:off x="45720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1" name="block body"/>
          <p:cNvSpPr txBox="1"/>
          <p:nvPr/>
        </p:nvSpPr>
        <p:spPr>
          <a:xfrm>
            <a:off x="457200" y="436168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confirmed: it is not located on the current drawing.]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COLLECTORS’ CLUB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A home for rare and classic vehicles</a:t>
            </a:r>
            <a:endParaRPr lang="en-US" sz="3000" dirty="0"/>
          </a:p>
        </p:txBody>
      </p:sp>
      <p:pic>
        <p:nvPicPr>
          <p:cNvPr id="4" name="Collectors club exterior" descr="Collectors club exteri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532120" cy="3108960"/>
          </a:xfrm>
          <a:prstGeom prst="rect">
            <a:avLst/>
          </a:prstGeom>
        </p:spPr>
      </p:pic>
      <p:pic>
        <p:nvPicPr>
          <p:cNvPr id="5" name="Collectors club lounge" descr="Collectors club loung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532120" cy="3108960"/>
          </a:xfrm>
          <a:prstGeom prst="rect">
            <a:avLst/>
          </a:prstGeom>
        </p:spPr>
      </p:pic>
      <p:sp>
        <p:nvSpPr>
          <p:cNvPr id="6" name="image tag"/>
          <p:cNvSpPr txBox="1"/>
          <p:nvPr/>
        </p:nvSpPr>
        <p:spPr>
          <a:xfrm>
            <a:off x="457200" y="4151376"/>
            <a:ext cx="274320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EXTERIOR AT DUSK · ILLUSTRATIVE</a:t>
            </a:r>
            <a:endParaRPr lang="en-US" sz="900" dirty="0"/>
          </a:p>
        </p:txBody>
      </p:sp>
      <p:sp>
        <p:nvSpPr>
          <p:cNvPr id="7" name="image tag"/>
          <p:cNvSpPr txBox="1"/>
          <p:nvPr/>
        </p:nvSpPr>
        <p:spPr>
          <a:xfrm>
            <a:off x="6217920" y="4151376"/>
            <a:ext cx="274320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GALLERY LOUNGE · ILLUSTRATIVE</a:t>
            </a:r>
            <a:endParaRPr lang="en-US" sz="900" dirty="0"/>
          </a:p>
        </p:txBody>
      </p:sp>
      <p:sp>
        <p:nvSpPr>
          <p:cNvPr id="8" name="block head"/>
          <p:cNvSpPr txBox="1"/>
          <p:nvPr/>
        </p:nvSpPr>
        <p:spPr>
          <a:xfrm>
            <a:off x="457200" y="4572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</a:t>
            </a:r>
            <a:endParaRPr lang="en-US" sz="1100" dirty="0"/>
          </a:p>
        </p:txBody>
      </p:sp>
      <p:sp>
        <p:nvSpPr>
          <p:cNvPr id="9" name="block body"/>
          <p:cNvSpPr txBox="1"/>
          <p:nvPr/>
        </p:nvSpPr>
        <p:spPr>
          <a:xfrm>
            <a:off x="457200" y="48646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Glazed display gallery at ground level, members’ lounges above and a shaded roof terrace.</a:t>
            </a:r>
            <a:endParaRPr lang="en-US" sz="1400" dirty="0"/>
          </a:p>
        </p:txBody>
      </p:sp>
      <p:sp>
        <p:nvSpPr>
          <p:cNvPr id="10" name="block head"/>
          <p:cNvSpPr txBox="1"/>
          <p:nvPr/>
        </p:nvSpPr>
        <p:spPr>
          <a:xfrm>
            <a:off x="4315968" y="4572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OR SIMPLY MEET</a:t>
            </a:r>
            <a:endParaRPr lang="en-US" sz="1100" dirty="0"/>
          </a:p>
        </p:txBody>
      </p:sp>
      <p:sp>
        <p:nvSpPr>
          <p:cNvPr id="11" name="block body"/>
          <p:cNvSpPr txBox="1"/>
          <p:nvPr/>
        </p:nvSpPr>
        <p:spPr>
          <a:xfrm>
            <a:off x="4315968" y="48646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 store their cars or come to meet in the lounge and café, with valet drop-off.</a:t>
            </a:r>
            <a:endParaRPr lang="en-US" sz="1400" dirty="0"/>
          </a:p>
        </p:txBody>
      </p:sp>
      <p:sp>
        <p:nvSpPr>
          <p:cNvPr id="12" name="block head"/>
          <p:cNvSpPr txBox="1"/>
          <p:nvPr/>
        </p:nvSpPr>
        <p:spPr>
          <a:xfrm>
            <a:off x="8183880" y="4572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HINGE</a:t>
            </a:r>
            <a:endParaRPr lang="en-US" sz="1100" dirty="0"/>
          </a:p>
        </p:txBody>
      </p:sp>
      <p:sp>
        <p:nvSpPr>
          <p:cNvPr id="13" name="block body"/>
          <p:cNvSpPr txBox="1"/>
          <p:nvPr/>
        </p:nvSpPr>
        <p:spPr>
          <a:xfrm>
            <a:off x="8183880" y="48646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the arena and the off-road field, close to events but discreet.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OUTDOOR EXHIBITION AND LAUNCH PLAZA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Where new models meet the public</a:t>
            </a:r>
            <a:endParaRPr lang="en-US" sz="3000" dirty="0"/>
          </a:p>
        </p:txBody>
      </p:sp>
      <p:pic>
        <p:nvPicPr>
          <p:cNvPr id="4" name="Outdoor launch plaza" descr="Outdoor launch plaz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11292840" cy="4800600"/>
          </a:xfrm>
          <a:prstGeom prst="rect">
            <a:avLst/>
          </a:prstGeom>
        </p:spPr>
      </p:pic>
      <p:sp>
        <p:nvSpPr>
          <p:cNvPr id="5" name="text panel"/>
          <p:cNvSpPr/>
          <p:nvPr/>
        </p:nvSpPr>
        <p:spPr>
          <a:xfrm>
            <a:off x="7818120" y="1508760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1B1C1E">
              <a:alpha val="85000"/>
            </a:srgbClr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6" name="block head"/>
          <p:cNvSpPr txBox="1"/>
          <p:nvPr/>
        </p:nvSpPr>
        <p:spPr>
          <a:xfrm>
            <a:off x="8001000" y="1645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&amp; ACTIVATE</a:t>
            </a:r>
            <a:endParaRPr lang="en-US" sz="1100" dirty="0"/>
          </a:p>
        </p:txBody>
      </p:sp>
      <p:sp>
        <p:nvSpPr>
          <p:cNvPr id="7" name="block body"/>
          <p:cNvSpPr txBox="1"/>
          <p:nvPr/>
        </p:nvSpPr>
        <p:spPr>
          <a:xfrm>
            <a:off x="8001000" y="19385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shaded plaza at the arena entrance for vehicle reveals, temporary exhibitions and brand activations.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function area as drawn: about 2,850 m²</a:t>
            </a:r>
            <a:endParaRPr lang="en-US" sz="1100" dirty="0"/>
          </a:p>
        </p:txBody>
      </p:sp>
      <p:sp>
        <p:nvSpPr>
          <p:cNvPr id="9" name="image tag"/>
          <p:cNvSpPr txBox="1"/>
          <p:nvPr/>
        </p:nvSpPr>
        <p:spPr>
          <a:xfrm>
            <a:off x="457200" y="5843016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INTEGRATED VISITOR EXPERIENCE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Three ways to use the district</a:t>
            </a:r>
            <a:endParaRPr lang="en-US" sz="3000" dirty="0"/>
          </a:p>
        </p:txBody>
      </p:sp>
      <p:pic>
        <p:nvPicPr>
          <p:cNvPr id="4" name="Masterplan for visitor journeys" descr="Masterplan for visitor journey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983480" cy="4983480"/>
          </a:xfrm>
          <a:prstGeom prst="rect">
            <a:avLst/>
          </a:prstGeom>
        </p:spPr>
      </p:pic>
      <p:sp>
        <p:nvSpPr>
          <p:cNvPr id="5" name="Customer journey path 1"/>
          <p:cNvSpPr/>
          <p:nvPr/>
        </p:nvSpPr>
        <p:spPr>
          <a:xfrm flipV="1">
            <a:off x="980465" y="3188833"/>
            <a:ext cx="323926" cy="34884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6" name="Customer journey path 2"/>
          <p:cNvSpPr/>
          <p:nvPr/>
        </p:nvSpPr>
        <p:spPr>
          <a:xfrm>
            <a:off x="1304392" y="3188833"/>
            <a:ext cx="149504" cy="119604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7" name="Customer journey path 3"/>
          <p:cNvSpPr/>
          <p:nvPr/>
        </p:nvSpPr>
        <p:spPr>
          <a:xfrm>
            <a:off x="1453896" y="3308436"/>
            <a:ext cx="189372" cy="239207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8" name="Customer journey path 4"/>
          <p:cNvSpPr/>
          <p:nvPr/>
        </p:nvSpPr>
        <p:spPr>
          <a:xfrm>
            <a:off x="1643268" y="3547643"/>
            <a:ext cx="358811" cy="473431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9" name="Customer journey path 5"/>
          <p:cNvSpPr/>
          <p:nvPr/>
        </p:nvSpPr>
        <p:spPr>
          <a:xfrm>
            <a:off x="2002079" y="4021074"/>
            <a:ext cx="747522" cy="34884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10" name="Customer journey path 6"/>
          <p:cNvSpPr/>
          <p:nvPr/>
        </p:nvSpPr>
        <p:spPr>
          <a:xfrm flipV="1">
            <a:off x="2749601" y="3697148"/>
            <a:ext cx="398678" cy="358811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11" name="Customer journey path 7"/>
          <p:cNvSpPr/>
          <p:nvPr/>
        </p:nvSpPr>
        <p:spPr>
          <a:xfrm flipV="1">
            <a:off x="3148279" y="3577544"/>
            <a:ext cx="184389" cy="119604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12" name="Customer journey path 8"/>
          <p:cNvSpPr/>
          <p:nvPr/>
        </p:nvSpPr>
        <p:spPr>
          <a:xfrm flipH="1" flipV="1">
            <a:off x="3023692" y="3373222"/>
            <a:ext cx="308976" cy="204323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13" name="Customer journey path 9"/>
          <p:cNvSpPr/>
          <p:nvPr/>
        </p:nvSpPr>
        <p:spPr>
          <a:xfrm flipH="1" flipV="1">
            <a:off x="2874188" y="3099130"/>
            <a:ext cx="149504" cy="274091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14" name="Customer journey path 10"/>
          <p:cNvSpPr/>
          <p:nvPr/>
        </p:nvSpPr>
        <p:spPr>
          <a:xfrm flipV="1">
            <a:off x="2874188" y="2800121"/>
            <a:ext cx="672770" cy="299009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15" name="Customer journey path 11"/>
          <p:cNvSpPr/>
          <p:nvPr/>
        </p:nvSpPr>
        <p:spPr>
          <a:xfrm flipV="1">
            <a:off x="3546958" y="2401443"/>
            <a:ext cx="647852" cy="398678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6" name="marker 1"/>
          <p:cNvSpPr/>
          <p:nvPr/>
        </p:nvSpPr>
        <p:spPr>
          <a:xfrm>
            <a:off x="843305" y="3086557"/>
            <a:ext cx="274320" cy="27432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7" name="marker label 1"/>
          <p:cNvSpPr txBox="1"/>
          <p:nvPr/>
        </p:nvSpPr>
        <p:spPr>
          <a:xfrm>
            <a:off x="843305" y="30865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marker 1"/>
          <p:cNvSpPr/>
          <p:nvPr/>
        </p:nvSpPr>
        <p:spPr>
          <a:xfrm>
            <a:off x="5797296" y="1362456"/>
            <a:ext cx="292608" cy="292608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9" name="marker label 1"/>
          <p:cNvSpPr txBox="1"/>
          <p:nvPr/>
        </p:nvSpPr>
        <p:spPr>
          <a:xfrm>
            <a:off x="5797296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C1E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1700784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on the frontage, compare brands along the showroom row, test-drive on and off road, then use the service village.</a:t>
            </a:r>
            <a:endParaRPr lang="en-US" sz="1400" dirty="0"/>
          </a:p>
        </p:txBody>
      </p:sp>
      <p:sp>
        <p:nvSpPr>
          <p:cNvPr id="22" name="Family day out path 1"/>
          <p:cNvSpPr/>
          <p:nvPr/>
        </p:nvSpPr>
        <p:spPr>
          <a:xfrm flipH="1">
            <a:off x="2201418" y="2476195"/>
            <a:ext cx="149504" cy="249174"/>
          </a:xfrm>
          <a:prstGeom prst="line">
            <a:avLst/>
          </a:prstGeom>
          <a:noFill/>
          <a:ln w="38100">
            <a:solidFill>
              <a:srgbClr val="E9E4DA"/>
            </a:solidFill>
            <a:prstDash val="solid"/>
          </a:ln>
        </p:spPr>
      </p:sp>
      <p:sp>
        <p:nvSpPr>
          <p:cNvPr id="23" name="Family day out path 2"/>
          <p:cNvSpPr/>
          <p:nvPr/>
        </p:nvSpPr>
        <p:spPr>
          <a:xfrm flipH="1">
            <a:off x="2041947" y="2725369"/>
            <a:ext cx="159471" cy="99670"/>
          </a:xfrm>
          <a:prstGeom prst="line">
            <a:avLst/>
          </a:prstGeom>
          <a:noFill/>
          <a:ln w="38100">
            <a:solidFill>
              <a:srgbClr val="E9E4DA"/>
            </a:solidFill>
            <a:prstDash val="solid"/>
          </a:ln>
        </p:spPr>
      </p:sp>
      <p:sp>
        <p:nvSpPr>
          <p:cNvPr id="24" name="Family day out path 3"/>
          <p:cNvSpPr/>
          <p:nvPr/>
        </p:nvSpPr>
        <p:spPr>
          <a:xfrm flipH="1">
            <a:off x="1877492" y="2825039"/>
            <a:ext cx="164455" cy="299009"/>
          </a:xfrm>
          <a:prstGeom prst="line">
            <a:avLst/>
          </a:prstGeom>
          <a:noFill/>
          <a:ln w="38100">
            <a:solidFill>
              <a:srgbClr val="E9E4DA"/>
            </a:solidFill>
            <a:prstDash val="solid"/>
          </a:ln>
        </p:spPr>
      </p:sp>
      <p:sp>
        <p:nvSpPr>
          <p:cNvPr id="25" name="Family day out path 4"/>
          <p:cNvSpPr/>
          <p:nvPr/>
        </p:nvSpPr>
        <p:spPr>
          <a:xfrm flipH="1">
            <a:off x="1792773" y="3124048"/>
            <a:ext cx="84719" cy="274091"/>
          </a:xfrm>
          <a:prstGeom prst="line">
            <a:avLst/>
          </a:prstGeom>
          <a:noFill/>
          <a:ln w="38100">
            <a:solidFill>
              <a:srgbClr val="E9E4DA"/>
            </a:solidFill>
            <a:prstDash val="solid"/>
          </a:ln>
        </p:spPr>
      </p:sp>
      <p:sp>
        <p:nvSpPr>
          <p:cNvPr id="26" name="Family day out path 5"/>
          <p:cNvSpPr/>
          <p:nvPr/>
        </p:nvSpPr>
        <p:spPr>
          <a:xfrm>
            <a:off x="1792773" y="3398139"/>
            <a:ext cx="358811" cy="348844"/>
          </a:xfrm>
          <a:prstGeom prst="line">
            <a:avLst/>
          </a:prstGeom>
          <a:noFill/>
          <a:ln w="38100">
            <a:solidFill>
              <a:srgbClr val="E9E4DA"/>
            </a:solidFill>
            <a:prstDash val="solid"/>
          </a:ln>
        </p:spPr>
      </p:sp>
      <p:sp>
        <p:nvSpPr>
          <p:cNvPr id="27" name="Family day out path 6"/>
          <p:cNvSpPr/>
          <p:nvPr/>
        </p:nvSpPr>
        <p:spPr>
          <a:xfrm>
            <a:off x="2151583" y="3746983"/>
            <a:ext cx="129570" cy="99670"/>
          </a:xfrm>
          <a:prstGeom prst="line">
            <a:avLst/>
          </a:prstGeom>
          <a:noFill/>
          <a:ln w="38100">
            <a:solidFill>
              <a:srgbClr val="E9E4DA"/>
            </a:solidFill>
            <a:prstDash val="solid"/>
          </a:ln>
        </p:spPr>
      </p:sp>
      <p:sp>
        <p:nvSpPr>
          <p:cNvPr id="28" name="Family day out path 7"/>
          <p:cNvSpPr/>
          <p:nvPr/>
        </p:nvSpPr>
        <p:spPr>
          <a:xfrm flipH="1">
            <a:off x="1902409" y="3846652"/>
            <a:ext cx="378744" cy="373761"/>
          </a:xfrm>
          <a:prstGeom prst="line">
            <a:avLst/>
          </a:prstGeom>
          <a:noFill/>
          <a:ln w="38100">
            <a:solidFill>
              <a:srgbClr val="E9E4DA"/>
            </a:solidFill>
            <a:prstDash val="solid"/>
          </a:ln>
        </p:spPr>
      </p:sp>
      <p:sp>
        <p:nvSpPr>
          <p:cNvPr id="29" name="Family day out path 8"/>
          <p:cNvSpPr/>
          <p:nvPr/>
        </p:nvSpPr>
        <p:spPr>
          <a:xfrm flipH="1">
            <a:off x="1468846" y="4220413"/>
            <a:ext cx="433563" cy="642869"/>
          </a:xfrm>
          <a:prstGeom prst="line">
            <a:avLst/>
          </a:prstGeom>
          <a:noFill/>
          <a:ln w="38100">
            <a:solidFill>
              <a:srgbClr val="E9E4DA"/>
            </a:solidFill>
            <a:prstDash val="solid"/>
            <a:tailEnd type="triangle"/>
          </a:ln>
        </p:spPr>
      </p:sp>
      <p:sp>
        <p:nvSpPr>
          <p:cNvPr id="30" name="marker 2"/>
          <p:cNvSpPr/>
          <p:nvPr/>
        </p:nvSpPr>
        <p:spPr>
          <a:xfrm>
            <a:off x="2213762" y="2339035"/>
            <a:ext cx="274320" cy="274320"/>
          </a:xfrm>
          <a:prstGeom prst="ellipse">
            <a:avLst/>
          </a:prstGeom>
          <a:solidFill>
            <a:srgbClr val="E9E4D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31" name="marker label 2"/>
          <p:cNvSpPr txBox="1"/>
          <p:nvPr/>
        </p:nvSpPr>
        <p:spPr>
          <a:xfrm>
            <a:off x="2213762" y="23390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marker 2"/>
          <p:cNvSpPr/>
          <p:nvPr/>
        </p:nvSpPr>
        <p:spPr>
          <a:xfrm>
            <a:off x="5797296" y="2779776"/>
            <a:ext cx="292608" cy="292608"/>
          </a:xfrm>
          <a:prstGeom prst="ellipse">
            <a:avLst/>
          </a:prstGeom>
          <a:solidFill>
            <a:srgbClr val="E9E4DA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33" name="marker label 2"/>
          <p:cNvSpPr txBox="1"/>
          <p:nvPr/>
        </p:nvSpPr>
        <p:spPr>
          <a:xfrm>
            <a:off x="5797296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C1E"/>
                </a:solidFill>
              </a:rPr>
              <a:t>2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21792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DAY OUT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217920" y="3118104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by the retail row, walk the shaded arcade, visit the club gallery and attractions, finish at the launch plaza.</a:t>
            </a:r>
            <a:endParaRPr lang="en-US" sz="1400" dirty="0"/>
          </a:p>
        </p:txBody>
      </p:sp>
      <p:sp>
        <p:nvSpPr>
          <p:cNvPr id="36" name="Event night path 1"/>
          <p:cNvSpPr/>
          <p:nvPr/>
        </p:nvSpPr>
        <p:spPr>
          <a:xfrm flipH="1" flipV="1">
            <a:off x="2201418" y="5042687"/>
            <a:ext cx="448513" cy="348844"/>
          </a:xfrm>
          <a:prstGeom prst="line">
            <a:avLst/>
          </a:prstGeom>
          <a:noFill/>
          <a:ln w="38100">
            <a:solidFill>
              <a:srgbClr val="6F8A96"/>
            </a:solidFill>
            <a:prstDash val="solid"/>
          </a:ln>
        </p:spPr>
      </p:sp>
      <p:sp>
        <p:nvSpPr>
          <p:cNvPr id="37" name="Event night path 2"/>
          <p:cNvSpPr/>
          <p:nvPr/>
        </p:nvSpPr>
        <p:spPr>
          <a:xfrm flipH="1" flipV="1">
            <a:off x="1703070" y="4893183"/>
            <a:ext cx="498348" cy="149504"/>
          </a:xfrm>
          <a:prstGeom prst="line">
            <a:avLst/>
          </a:prstGeom>
          <a:noFill/>
          <a:ln w="38100">
            <a:solidFill>
              <a:srgbClr val="6F8A96"/>
            </a:solidFill>
            <a:prstDash val="solid"/>
          </a:ln>
        </p:spPr>
      </p:sp>
      <p:sp>
        <p:nvSpPr>
          <p:cNvPr id="38" name="Event night path 3"/>
          <p:cNvSpPr/>
          <p:nvPr/>
        </p:nvSpPr>
        <p:spPr>
          <a:xfrm flipH="1" flipV="1">
            <a:off x="1468846" y="4863282"/>
            <a:ext cx="234224" cy="29901"/>
          </a:xfrm>
          <a:prstGeom prst="line">
            <a:avLst/>
          </a:prstGeom>
          <a:noFill/>
          <a:ln w="38100">
            <a:solidFill>
              <a:srgbClr val="6F8A96"/>
            </a:solidFill>
            <a:prstDash val="solid"/>
          </a:ln>
        </p:spPr>
      </p:sp>
      <p:sp>
        <p:nvSpPr>
          <p:cNvPr id="39" name="Event night path 4"/>
          <p:cNvSpPr/>
          <p:nvPr/>
        </p:nvSpPr>
        <p:spPr>
          <a:xfrm flipV="1">
            <a:off x="1468846" y="4594174"/>
            <a:ext cx="174422" cy="269108"/>
          </a:xfrm>
          <a:prstGeom prst="line">
            <a:avLst/>
          </a:prstGeom>
          <a:noFill/>
          <a:ln w="38100">
            <a:solidFill>
              <a:srgbClr val="6F8A96"/>
            </a:solidFill>
            <a:prstDash val="solid"/>
          </a:ln>
        </p:spPr>
      </p:sp>
      <p:sp>
        <p:nvSpPr>
          <p:cNvPr id="40" name="Event night path 5"/>
          <p:cNvSpPr/>
          <p:nvPr/>
        </p:nvSpPr>
        <p:spPr>
          <a:xfrm flipV="1">
            <a:off x="1643268" y="4325066"/>
            <a:ext cx="179405" cy="269108"/>
          </a:xfrm>
          <a:prstGeom prst="line">
            <a:avLst/>
          </a:prstGeom>
          <a:noFill/>
          <a:ln w="38100">
            <a:solidFill>
              <a:srgbClr val="6F8A96"/>
            </a:solidFill>
            <a:prstDash val="solid"/>
          </a:ln>
        </p:spPr>
      </p:sp>
      <p:sp>
        <p:nvSpPr>
          <p:cNvPr id="41" name="Event night path 6"/>
          <p:cNvSpPr/>
          <p:nvPr/>
        </p:nvSpPr>
        <p:spPr>
          <a:xfrm flipV="1">
            <a:off x="1822674" y="3946322"/>
            <a:ext cx="378744" cy="378744"/>
          </a:xfrm>
          <a:prstGeom prst="line">
            <a:avLst/>
          </a:prstGeom>
          <a:noFill/>
          <a:ln w="38100">
            <a:solidFill>
              <a:srgbClr val="6F8A96"/>
            </a:solidFill>
            <a:prstDash val="solid"/>
            <a:tailEnd type="triangle"/>
          </a:ln>
        </p:spPr>
      </p:sp>
      <p:sp>
        <p:nvSpPr>
          <p:cNvPr id="42" name="marker 3"/>
          <p:cNvSpPr/>
          <p:nvPr/>
        </p:nvSpPr>
        <p:spPr>
          <a:xfrm>
            <a:off x="2512771" y="5254371"/>
            <a:ext cx="274320" cy="274320"/>
          </a:xfrm>
          <a:prstGeom prst="ellipse">
            <a:avLst/>
          </a:prstGeom>
          <a:solidFill>
            <a:srgbClr val="6F8A96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43" name="marker label 3"/>
          <p:cNvSpPr txBox="1"/>
          <p:nvPr/>
        </p:nvSpPr>
        <p:spPr>
          <a:xfrm>
            <a:off x="2512771" y="52543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3</a:t>
            </a:r>
            <a:endParaRPr lang="en-US" sz="1000" dirty="0"/>
          </a:p>
        </p:txBody>
      </p:sp>
      <p:sp>
        <p:nvSpPr>
          <p:cNvPr id="44" name="marker 3"/>
          <p:cNvSpPr/>
          <p:nvPr/>
        </p:nvSpPr>
        <p:spPr>
          <a:xfrm>
            <a:off x="5797296" y="4197096"/>
            <a:ext cx="292608" cy="292608"/>
          </a:xfrm>
          <a:prstGeom prst="ellipse">
            <a:avLst/>
          </a:prstGeom>
          <a:solidFill>
            <a:srgbClr val="6F8A96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45" name="marker label 3"/>
          <p:cNvSpPr txBox="1"/>
          <p:nvPr/>
        </p:nvSpPr>
        <p:spPr>
          <a:xfrm>
            <a:off x="5797296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C1E"/>
                </a:solidFill>
              </a:rPr>
              <a:t>3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21792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6F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NIGHT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6217920" y="4535424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from the south-east road, gather on the plaza, enter the arena, then continue to the club.</a:t>
            </a:r>
            <a:endParaRPr lang="en-US" sz="1400" dirty="0"/>
          </a:p>
        </p:txBody>
      </p:sp>
      <p:sp>
        <p:nvSpPr>
          <p:cNvPr id="48" name="discussion point frame"/>
          <p:cNvSpPr/>
          <p:nvPr/>
        </p:nvSpPr>
        <p:spPr>
          <a:xfrm>
            <a:off x="5852160" y="5623560"/>
            <a:ext cx="5897880" cy="685800"/>
          </a:xfrm>
          <a:prstGeom prst="roundRect">
            <a:avLst>
              <a:gd name="adj" fmla="val 8000"/>
            </a:avLst>
          </a:prstGeom>
          <a:solidFill>
            <a:srgbClr val="2B2C2F"/>
          </a:solidFill>
          <a:ln w="9525">
            <a:solidFill>
              <a:srgbClr val="7A5C3A"/>
            </a:solidFill>
            <a:prstDash val="solid"/>
          </a:ln>
        </p:spPr>
      </p:sp>
      <p:sp>
        <p:nvSpPr>
          <p:cNvPr id="49" name="discussion point"/>
          <p:cNvSpPr txBox="1"/>
          <p:nvPr/>
        </p:nvSpPr>
        <p:spPr>
          <a:xfrm>
            <a:off x="5989320" y="5696712"/>
            <a:ext cx="5623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9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routes, crossings and event-day separation of visitors and service traffic.</a:t>
            </a:r>
            <a:endParaRPr lang="en-US" sz="1400" dirty="0"/>
          </a:p>
        </p:txBody>
      </p:sp>
      <p:sp>
        <p:nvSpPr>
          <p:cNvPr id="50" name="image tag"/>
          <p:cNvSpPr txBox="1"/>
          <p:nvPr/>
        </p:nvSpPr>
        <p:spPr>
          <a:xfrm>
            <a:off x="457200" y="6025896"/>
            <a:ext cx="310896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INDICATIVE ROUTES ON THE CONCEPT LAYOUT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SITE OPPORTUNITIES AND DEVELOPMENT CONTEXT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Location options under consideration</a:t>
            </a:r>
            <a:endParaRPr lang="en-US" sz="3000" dirty="0"/>
          </a:p>
        </p:txBody>
      </p:sp>
      <p:pic>
        <p:nvPicPr>
          <p:cNvPr id="4" name="source location overview" descr="img/S16_loca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532120" cy="3108960"/>
          </a:xfrm>
          <a:prstGeom prst="rect">
            <a:avLst/>
          </a:prstGeom>
        </p:spPr>
      </p:pic>
      <p:pic>
        <p:nvPicPr>
          <p:cNvPr id="5" name="source site options" descr="img/S16_option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532120" cy="3108960"/>
          </a:xfrm>
          <a:prstGeom prst="rect">
            <a:avLst/>
          </a:prstGeom>
        </p:spPr>
      </p:pic>
      <p:sp>
        <p:nvSpPr>
          <p:cNvPr id="6" name="image tag"/>
          <p:cNvSpPr txBox="1"/>
          <p:nvPr/>
        </p:nvSpPr>
        <p:spPr>
          <a:xfrm>
            <a:off x="457200" y="4151376"/>
            <a:ext cx="3017520" cy="237744"/>
          </a:xfrm>
          <a:prstGeom prst="rect">
            <a:avLst/>
          </a:prstGeom>
          <a:solidFill>
            <a:srgbClr val="C9B48A"/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1B1C1E"/>
                </a:solidFill>
              </a:rPr>
              <a:t>SOURCE MATERIAL · JMD CONCEPT 1, P.24</a:t>
            </a:r>
            <a:endParaRPr lang="en-US" sz="900" dirty="0"/>
          </a:p>
        </p:txBody>
      </p:sp>
      <p:sp>
        <p:nvSpPr>
          <p:cNvPr id="7" name="image tag"/>
          <p:cNvSpPr txBox="1"/>
          <p:nvPr/>
        </p:nvSpPr>
        <p:spPr>
          <a:xfrm>
            <a:off x="6217920" y="4151376"/>
            <a:ext cx="3840480" cy="237744"/>
          </a:xfrm>
          <a:prstGeom prst="rect">
            <a:avLst/>
          </a:prstGeom>
          <a:solidFill>
            <a:srgbClr val="C9B48A"/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1B1C1E"/>
                </a:solidFill>
              </a:rPr>
              <a:t>SOURCE MATERIAL · JMD CONCEPT 1, P.25 · OPTIONS 1–3</a:t>
            </a:r>
            <a:endParaRPr lang="en-US" sz="900" dirty="0"/>
          </a:p>
        </p:txBody>
      </p:sp>
      <p:sp>
        <p:nvSpPr>
          <p:cNvPr id="8" name="block head"/>
          <p:cNvSpPr txBox="1"/>
          <p:nvPr/>
        </p:nvSpPr>
        <p:spPr>
          <a:xfrm>
            <a:off x="457200" y="4572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NOT DECISIONS</a:t>
            </a:r>
            <a:endParaRPr lang="en-US" sz="1100" dirty="0"/>
          </a:p>
        </p:txBody>
      </p:sp>
      <p:sp>
        <p:nvSpPr>
          <p:cNvPr id="9" name="block body"/>
          <p:cNvSpPr txBox="1"/>
          <p:nvPr/>
        </p:nvSpPr>
        <p:spPr>
          <a:xfrm>
            <a:off x="457200" y="486460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locations were identified in the concept material. No site has been selected or approved.</a:t>
            </a:r>
            <a:endParaRPr lang="en-US" sz="1400" dirty="0"/>
          </a:p>
        </p:txBody>
      </p:sp>
      <p:sp>
        <p:nvSpPr>
          <p:cNvPr id="10" name="block head"/>
          <p:cNvSpPr txBox="1"/>
          <p:nvPr/>
        </p:nvSpPr>
        <p:spPr>
          <a:xfrm>
            <a:off x="4315968" y="4572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CONCEPT</a:t>
            </a:r>
            <a:endParaRPr lang="en-US" sz="1100" dirty="0"/>
          </a:p>
        </p:txBody>
      </p:sp>
      <p:sp>
        <p:nvSpPr>
          <p:cNvPr id="11" name="block body"/>
          <p:cNvSpPr txBox="1"/>
          <p:nvPr/>
        </p:nvSpPr>
        <p:spPr>
          <a:xfrm>
            <a:off x="4315968" y="486460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district concept (components and relationships) can be adapted to the selected site.</a:t>
            </a:r>
            <a:endParaRPr lang="en-US" sz="1400" dirty="0"/>
          </a:p>
        </p:txBody>
      </p:sp>
      <p:sp>
        <p:nvSpPr>
          <p:cNvPr id="12" name="block head"/>
          <p:cNvSpPr txBox="1"/>
          <p:nvPr/>
        </p:nvSpPr>
        <p:spPr>
          <a:xfrm>
            <a:off x="8183880" y="4572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13" name="block body"/>
          <p:cNvSpPr txBox="1"/>
          <p:nvPr/>
        </p:nvSpPr>
        <p:spPr>
          <a:xfrm>
            <a:off x="8183880" y="486460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[Confirm the preferred site, its boundary and area, then re-fit the layout.]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84632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3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DEVELOPMENT VISION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846320" y="7772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distinctive automotive destination for Jeddah</a:t>
            </a:r>
            <a:endParaRPr lang="en-US" sz="3200" dirty="0"/>
          </a:p>
        </p:txBody>
      </p:sp>
      <p:sp>
        <p:nvSpPr>
          <p:cNvPr id="4" name="coordination panel"/>
          <p:cNvSpPr/>
          <p:nvPr/>
        </p:nvSpPr>
        <p:spPr>
          <a:xfrm>
            <a:off x="457200" y="457200"/>
            <a:ext cx="3931920" cy="5760720"/>
          </a:xfrm>
          <a:prstGeom prst="roundRect">
            <a:avLst>
              <a:gd name="adj" fmla="val 1395"/>
            </a:avLst>
          </a:prstGeom>
          <a:solidFill>
            <a:srgbClr val="1B1C1E">
              <a:alpha val="88000"/>
            </a:srgbClr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685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FOR MUNICIPAL COORDINATION</a:t>
            </a:r>
            <a:endParaRPr lang="en-US" sz="1100" dirty="0"/>
          </a:p>
        </p:txBody>
      </p:sp>
      <p:sp>
        <p:nvSpPr>
          <p:cNvPr id="6" name="marker 1"/>
          <p:cNvSpPr/>
          <p:nvPr/>
        </p:nvSpPr>
        <p:spPr>
          <a:xfrm>
            <a:off x="740664" y="1289304"/>
            <a:ext cx="256032" cy="25603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7" name="marker label 1"/>
          <p:cNvSpPr txBox="1"/>
          <p:nvPr/>
        </p:nvSpPr>
        <p:spPr>
          <a:xfrm>
            <a:off x="740664" y="1289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298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selection, boundary and land use</a:t>
            </a:r>
            <a:endParaRPr lang="en-US" sz="1400" dirty="0"/>
          </a:p>
        </p:txBody>
      </p:sp>
      <p:sp>
        <p:nvSpPr>
          <p:cNvPr id="9" name="marker 2"/>
          <p:cNvSpPr/>
          <p:nvPr/>
        </p:nvSpPr>
        <p:spPr>
          <a:xfrm>
            <a:off x="740664" y="1892808"/>
            <a:ext cx="256032" cy="25603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0" name="marker label 2"/>
          <p:cNvSpPr txBox="1"/>
          <p:nvPr/>
        </p:nvSpPr>
        <p:spPr>
          <a:xfrm>
            <a:off x="740664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9019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 and traffic impact</a:t>
            </a:r>
            <a:endParaRPr lang="en-US" sz="1400" dirty="0"/>
          </a:p>
        </p:txBody>
      </p:sp>
      <p:sp>
        <p:nvSpPr>
          <p:cNvPr id="12" name="marker 3"/>
          <p:cNvSpPr/>
          <p:nvPr/>
        </p:nvSpPr>
        <p:spPr>
          <a:xfrm>
            <a:off x="740664" y="2496312"/>
            <a:ext cx="256032" cy="25603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3" name="marker label 3"/>
          <p:cNvSpPr txBox="1"/>
          <p:nvPr/>
        </p:nvSpPr>
        <p:spPr>
          <a:xfrm>
            <a:off x="740664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5054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provision and event-day management</a:t>
            </a:r>
            <a:endParaRPr lang="en-US" sz="1400" dirty="0"/>
          </a:p>
        </p:txBody>
      </p:sp>
      <p:sp>
        <p:nvSpPr>
          <p:cNvPr id="15" name="marker 4"/>
          <p:cNvSpPr/>
          <p:nvPr/>
        </p:nvSpPr>
        <p:spPr>
          <a:xfrm>
            <a:off x="740664" y="3099816"/>
            <a:ext cx="256032" cy="25603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6" name="marker label 4"/>
          <p:cNvSpPr txBox="1"/>
          <p:nvPr/>
        </p:nvSpPr>
        <p:spPr>
          <a:xfrm>
            <a:off x="740664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realm, shade and pedestrian safety</a:t>
            </a:r>
            <a:endParaRPr lang="en-US" sz="1400" dirty="0"/>
          </a:p>
        </p:txBody>
      </p:sp>
      <p:sp>
        <p:nvSpPr>
          <p:cNvPr id="18" name="marker 5"/>
          <p:cNvSpPr/>
          <p:nvPr/>
        </p:nvSpPr>
        <p:spPr>
          <a:xfrm>
            <a:off x="740664" y="3703320"/>
            <a:ext cx="256032" cy="25603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19" name="marker label 5"/>
          <p:cNvSpPr txBox="1"/>
          <p:nvPr/>
        </p:nvSpPr>
        <p:spPr>
          <a:xfrm>
            <a:off x="740664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712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and infrastructure interfaces</a:t>
            </a:r>
            <a:endParaRPr lang="en-US" sz="1400" dirty="0"/>
          </a:p>
        </p:txBody>
      </p:sp>
      <p:sp>
        <p:nvSpPr>
          <p:cNvPr id="21" name="marker 6"/>
          <p:cNvSpPr/>
          <p:nvPr/>
        </p:nvSpPr>
        <p:spPr>
          <a:xfrm>
            <a:off x="740664" y="4306824"/>
            <a:ext cx="256032" cy="25603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22" name="marker label 6"/>
          <p:cNvSpPr txBox="1"/>
          <p:nvPr/>
        </p:nvSpPr>
        <p:spPr>
          <a:xfrm>
            <a:off x="740664" y="4306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3159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Off-road dust, noise and safety</a:t>
            </a:r>
            <a:endParaRPr lang="en-US" sz="1400" dirty="0"/>
          </a:p>
        </p:txBody>
      </p:sp>
      <p:sp>
        <p:nvSpPr>
          <p:cNvPr id="24" name="marker 7"/>
          <p:cNvSpPr/>
          <p:nvPr/>
        </p:nvSpPr>
        <p:spPr>
          <a:xfrm>
            <a:off x="740664" y="4910328"/>
            <a:ext cx="256032" cy="25603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25" name="marker label 7"/>
          <p:cNvSpPr txBox="1"/>
          <p:nvPr/>
        </p:nvSpPr>
        <p:spPr>
          <a:xfrm>
            <a:off x="740664" y="4910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C1E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9194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phasing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topics, not completed assessments.</a:t>
            </a:r>
            <a:endParaRPr lang="en-US" sz="1100" dirty="0"/>
          </a:p>
        </p:txBody>
      </p:sp>
      <p:sp>
        <p:nvSpPr>
          <p:cNvPr id="28" name="image tag"/>
          <p:cNvSpPr txBox="1"/>
          <p:nvPr/>
        </p:nvSpPr>
        <p:spPr>
          <a:xfrm>
            <a:off x="8778240" y="6446520"/>
            <a:ext cx="292608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/>
          <p:cNvSpPr txBox="1"/>
          <p:nvPr/>
        </p:nvSpPr>
        <p:spPr>
          <a:xfrm>
            <a:off x="640080" y="4480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contact"/>
          <p:cNvSpPr txBox="1"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[Contact name, email, phone]</a:t>
            </a:r>
            <a:endParaRPr lang="en-US" sz="1800" dirty="0"/>
          </a:p>
        </p:txBody>
      </p:sp>
      <p:sp>
        <p:nvSpPr>
          <p:cNvPr id="4" name="image tag"/>
          <p:cNvSpPr txBox="1"/>
          <p:nvPr/>
        </p:nvSpPr>
        <p:spPr>
          <a:xfrm>
            <a:off x="640080" y="6446520"/>
            <a:ext cx="5852160" cy="237744"/>
          </a:xfrm>
          <a:prstGeom prst="rect">
            <a:avLst/>
          </a:prstGeom>
          <a:solidFill>
            <a:srgbClr val="1B1C1E">
              <a:alpha val="75000"/>
            </a:srgbClr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1"/>
                </a:solidFill>
              </a:rPr>
              <a:t>NEW CONCEPT VISUALISATION · ILLUSTRATIVE · SHOWROOM FRONTAGE WITH ARENA BEYOND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8D1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MD Concept">
  <a:themeElements>
    <a:clrScheme name="JMD Concept">
      <a:dk1>
        <a:srgbClr val="1B1C1E"/>
      </a:dk1>
      <a:lt1>
        <a:srgbClr val="F4F1EC"/>
      </a:lt1>
      <a:dk2>
        <a:srgbClr val="2B2C2F"/>
      </a:dk2>
      <a:lt2>
        <a:srgbClr val="D8D1C5"/>
      </a:lt2>
      <a:accent1>
        <a:srgbClr val="B08D57"/>
      </a:accent1>
      <a:accent2>
        <a:srgbClr val="8E8A83"/>
      </a:accent2>
      <a:accent3>
        <a:srgbClr val="6F8A96"/>
      </a:accent3>
      <a:accent4>
        <a:srgbClr val="C9B48A"/>
      </a:accent4>
      <a:accent5>
        <a:srgbClr val="7A5C3A"/>
      </a:accent5>
      <a:accent6>
        <a:srgbClr val="6E7B5B"/>
      </a:accent6>
      <a:hlink>
        <a:srgbClr val="C9B48A"/>
      </a:hlink>
      <a:folHlink>
        <a:srgbClr val="8E8A83"/>
      </a:folHlink>
    </a:clrScheme>
    <a:fontScheme name="JMD Concep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Jeddah Motor District — Concept Presentation</dc:title>
  <dc:subject>Concept visualisation for the Municipality of Jeddah</dc:subject>
  <dc:creator>JMD Project Team</dc:creator>
  <cp:lastModifiedBy>JMD Project Team</cp:lastModifiedBy>
  <cp:revision>1</cp:revision>
  <dcterms:created xsi:type="dcterms:W3CDTF">2026-10-08T21:51:23Z</dcterms:created>
  <dcterms:modified xsi:type="dcterms:W3CDTF">2026-10-08T21:51:23Z</dcterms:modified>
</cp:coreProperties>
</file>